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Cocomat Pro Heavy" charset="1" panose="00000A00000000000000"/>
      <p:regular r:id="rId25"/>
    </p:embeddedFont>
    <p:embeddedFont>
      <p:font typeface="Noto Sans Bold" charset="1" panose="020B0802040504020204"/>
      <p:regular r:id="rId26"/>
    </p:embeddedFont>
    <p:embeddedFont>
      <p:font typeface="Noto Sans" charset="1" panose="020B0502040504020204"/>
      <p:regular r:id="rId27"/>
    </p:embeddedFont>
    <p:embeddedFont>
      <p:font typeface="Cocomat Pro Bold" charset="1" panose="000007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2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69584" y="6170965"/>
            <a:ext cx="13037879" cy="10930266"/>
            <a:chOff x="0" y="0"/>
            <a:chExt cx="1142785" cy="958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2785" cy="958050"/>
            </a:xfrm>
            <a:custGeom>
              <a:avLst/>
              <a:gdLst/>
              <a:ahLst/>
              <a:cxnLst/>
              <a:rect r="r" b="b" t="t" l="l"/>
              <a:pathLst>
                <a:path h="958050" w="1142785">
                  <a:moveTo>
                    <a:pt x="571392" y="0"/>
                  </a:moveTo>
                  <a:cubicBezTo>
                    <a:pt x="255821" y="0"/>
                    <a:pt x="0" y="214467"/>
                    <a:pt x="0" y="479025"/>
                  </a:cubicBezTo>
                  <a:cubicBezTo>
                    <a:pt x="0" y="743583"/>
                    <a:pt x="255821" y="958050"/>
                    <a:pt x="571392" y="958050"/>
                  </a:cubicBezTo>
                  <a:cubicBezTo>
                    <a:pt x="886964" y="958050"/>
                    <a:pt x="1142785" y="743583"/>
                    <a:pt x="1142785" y="479025"/>
                  </a:cubicBezTo>
                  <a:cubicBezTo>
                    <a:pt x="1142785" y="214467"/>
                    <a:pt x="886964" y="0"/>
                    <a:pt x="5713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7136" y="42192"/>
              <a:ext cx="928513" cy="826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64948" y="-934651"/>
            <a:ext cx="2300987" cy="230098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91875">
            <a:off x="9650291" y="776471"/>
            <a:ext cx="9653352" cy="8750784"/>
            <a:chOff x="0" y="0"/>
            <a:chExt cx="1025298" cy="9294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5298" cy="929435"/>
            </a:xfrm>
            <a:custGeom>
              <a:avLst/>
              <a:gdLst/>
              <a:ahLst/>
              <a:cxnLst/>
              <a:rect r="r" b="b" t="t" l="l"/>
              <a:pathLst>
                <a:path h="929435" w="1025298">
                  <a:moveTo>
                    <a:pt x="512649" y="0"/>
                  </a:moveTo>
                  <a:cubicBezTo>
                    <a:pt x="229521" y="0"/>
                    <a:pt x="0" y="208061"/>
                    <a:pt x="0" y="464717"/>
                  </a:cubicBezTo>
                  <a:cubicBezTo>
                    <a:pt x="0" y="721374"/>
                    <a:pt x="229521" y="929435"/>
                    <a:pt x="512649" y="929435"/>
                  </a:cubicBezTo>
                  <a:cubicBezTo>
                    <a:pt x="795777" y="929435"/>
                    <a:pt x="1025298" y="721374"/>
                    <a:pt x="1025298" y="464717"/>
                  </a:cubicBezTo>
                  <a:cubicBezTo>
                    <a:pt x="1025298" y="208061"/>
                    <a:pt x="795777" y="0"/>
                    <a:pt x="512649" y="0"/>
                  </a:cubicBezTo>
                  <a:close/>
                </a:path>
              </a:pathLst>
            </a:custGeom>
            <a:blipFill>
              <a:blip r:embed="rId2"/>
              <a:stretch>
                <a:fillRect l="-18030" t="0" r="-18030" b="0"/>
              </a:stretch>
            </a:blipFill>
            <a:ln w="76200" cap="sq">
              <a:solidFill>
                <a:srgbClr val="2D659F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85546" y="3685863"/>
            <a:ext cx="9068060" cy="603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6"/>
              </a:lnSpc>
              <a:spcBef>
                <a:spcPct val="0"/>
              </a:spcBef>
            </a:pPr>
            <a:r>
              <a:rPr lang="en-US" b="true" sz="3447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PROGRAMACIÓN ESTRUCTURADA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1629" y="4070470"/>
            <a:ext cx="8981976" cy="1943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687"/>
              </a:lnSpc>
              <a:spcBef>
                <a:spcPct val="0"/>
              </a:spcBef>
            </a:pPr>
            <a:r>
              <a:rPr lang="en-US" b="true" sz="11205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LABERINTO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5546" y="7374771"/>
            <a:ext cx="7840837" cy="2647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18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Presentado por: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8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Joaquin Uriona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8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Jesús Uc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8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Astrit Cetzal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8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Carlos Llanes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2769" y="149167"/>
            <a:ext cx="7840837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3500" spc="22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Proyecto Final Unidad III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2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93104" y="798525"/>
            <a:ext cx="8588766" cy="94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7"/>
              </a:lnSpc>
              <a:spcBef>
                <a:spcPct val="0"/>
              </a:spcBef>
            </a:pPr>
            <a:r>
              <a:rPr lang="en-US" b="true" sz="5455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CONTENIDO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293104" y="2268759"/>
            <a:ext cx="1196754" cy="992702"/>
            <a:chOff x="0" y="0"/>
            <a:chExt cx="979872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9872" cy="812800"/>
            </a:xfrm>
            <a:custGeom>
              <a:avLst/>
              <a:gdLst/>
              <a:ahLst/>
              <a:cxnLst/>
              <a:rect r="r" b="b" t="t" l="l"/>
              <a:pathLst>
                <a:path h="812800" w="979872">
                  <a:moveTo>
                    <a:pt x="489936" y="0"/>
                  </a:moveTo>
                  <a:cubicBezTo>
                    <a:pt x="219352" y="0"/>
                    <a:pt x="0" y="181951"/>
                    <a:pt x="0" y="406400"/>
                  </a:cubicBezTo>
                  <a:cubicBezTo>
                    <a:pt x="0" y="630849"/>
                    <a:pt x="219352" y="812800"/>
                    <a:pt x="489936" y="812800"/>
                  </a:cubicBezTo>
                  <a:cubicBezTo>
                    <a:pt x="760520" y="812800"/>
                    <a:pt x="979872" y="630849"/>
                    <a:pt x="979872" y="406400"/>
                  </a:cubicBezTo>
                  <a:cubicBezTo>
                    <a:pt x="979872" y="181951"/>
                    <a:pt x="760520" y="0"/>
                    <a:pt x="489936" y="0"/>
                  </a:cubicBezTo>
                  <a:close/>
                </a:path>
              </a:pathLst>
            </a:custGeom>
            <a:solidFill>
              <a:srgbClr val="4F8FD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91863" y="9525"/>
              <a:ext cx="796146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0"/>
                </a:lnSpc>
              </a:pPr>
              <a:r>
                <a:rPr lang="en-US" b="true" sz="3293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23349" y="6406243"/>
            <a:ext cx="12549976" cy="1254997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28989" y="2268759"/>
            <a:ext cx="1196754" cy="992702"/>
            <a:chOff x="0" y="0"/>
            <a:chExt cx="979872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9872" cy="812800"/>
            </a:xfrm>
            <a:custGeom>
              <a:avLst/>
              <a:gdLst/>
              <a:ahLst/>
              <a:cxnLst/>
              <a:rect r="r" b="b" t="t" l="l"/>
              <a:pathLst>
                <a:path h="812800" w="979872">
                  <a:moveTo>
                    <a:pt x="489936" y="0"/>
                  </a:moveTo>
                  <a:cubicBezTo>
                    <a:pt x="219352" y="0"/>
                    <a:pt x="0" y="181951"/>
                    <a:pt x="0" y="406400"/>
                  </a:cubicBezTo>
                  <a:cubicBezTo>
                    <a:pt x="0" y="630849"/>
                    <a:pt x="219352" y="812800"/>
                    <a:pt x="489936" y="812800"/>
                  </a:cubicBezTo>
                  <a:cubicBezTo>
                    <a:pt x="760520" y="812800"/>
                    <a:pt x="979872" y="630849"/>
                    <a:pt x="979872" y="406400"/>
                  </a:cubicBezTo>
                  <a:cubicBezTo>
                    <a:pt x="979872" y="181951"/>
                    <a:pt x="760520" y="0"/>
                    <a:pt x="489936" y="0"/>
                  </a:cubicBezTo>
                  <a:close/>
                </a:path>
              </a:pathLst>
            </a:custGeom>
            <a:solidFill>
              <a:srgbClr val="4F8FD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91863" y="9525"/>
              <a:ext cx="796146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0"/>
                </a:lnSpc>
              </a:pPr>
              <a:r>
                <a:rPr lang="en-US" b="true" sz="3293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67409" y="2268759"/>
            <a:ext cx="1196754" cy="992702"/>
            <a:chOff x="0" y="0"/>
            <a:chExt cx="979872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9872" cy="812800"/>
            </a:xfrm>
            <a:custGeom>
              <a:avLst/>
              <a:gdLst/>
              <a:ahLst/>
              <a:cxnLst/>
              <a:rect r="r" b="b" t="t" l="l"/>
              <a:pathLst>
                <a:path h="812800" w="979872">
                  <a:moveTo>
                    <a:pt x="489936" y="0"/>
                  </a:moveTo>
                  <a:cubicBezTo>
                    <a:pt x="219352" y="0"/>
                    <a:pt x="0" y="181951"/>
                    <a:pt x="0" y="406400"/>
                  </a:cubicBezTo>
                  <a:cubicBezTo>
                    <a:pt x="0" y="630849"/>
                    <a:pt x="219352" y="812800"/>
                    <a:pt x="489936" y="812800"/>
                  </a:cubicBezTo>
                  <a:cubicBezTo>
                    <a:pt x="760520" y="812800"/>
                    <a:pt x="979872" y="630849"/>
                    <a:pt x="979872" y="406400"/>
                  </a:cubicBezTo>
                  <a:cubicBezTo>
                    <a:pt x="979872" y="181951"/>
                    <a:pt x="760520" y="0"/>
                    <a:pt x="489936" y="0"/>
                  </a:cubicBezTo>
                  <a:close/>
                </a:path>
              </a:pathLst>
            </a:custGeom>
            <a:solidFill>
              <a:srgbClr val="4F8FD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91863" y="9525"/>
              <a:ext cx="796146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0"/>
                </a:lnSpc>
              </a:pPr>
              <a:r>
                <a:rPr lang="en-US" b="true" sz="3293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303212" y="4245808"/>
            <a:ext cx="1196754" cy="992702"/>
            <a:chOff x="0" y="0"/>
            <a:chExt cx="979872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9872" cy="812800"/>
            </a:xfrm>
            <a:custGeom>
              <a:avLst/>
              <a:gdLst/>
              <a:ahLst/>
              <a:cxnLst/>
              <a:rect r="r" b="b" t="t" l="l"/>
              <a:pathLst>
                <a:path h="812800" w="979872">
                  <a:moveTo>
                    <a:pt x="489936" y="0"/>
                  </a:moveTo>
                  <a:cubicBezTo>
                    <a:pt x="219352" y="0"/>
                    <a:pt x="0" y="181951"/>
                    <a:pt x="0" y="406400"/>
                  </a:cubicBezTo>
                  <a:cubicBezTo>
                    <a:pt x="0" y="630849"/>
                    <a:pt x="219352" y="812800"/>
                    <a:pt x="489936" y="812800"/>
                  </a:cubicBezTo>
                  <a:cubicBezTo>
                    <a:pt x="760520" y="812800"/>
                    <a:pt x="979872" y="630849"/>
                    <a:pt x="979872" y="406400"/>
                  </a:cubicBezTo>
                  <a:cubicBezTo>
                    <a:pt x="979872" y="181951"/>
                    <a:pt x="760520" y="0"/>
                    <a:pt x="489936" y="0"/>
                  </a:cubicBezTo>
                  <a:close/>
                </a:path>
              </a:pathLst>
            </a:custGeom>
            <a:solidFill>
              <a:srgbClr val="4F8FD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91863" y="9525"/>
              <a:ext cx="796146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0"/>
                </a:lnSpc>
              </a:pPr>
              <a:r>
                <a:rPr lang="en-US" b="true" sz="3293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539096" y="4245808"/>
            <a:ext cx="1196754" cy="992702"/>
            <a:chOff x="0" y="0"/>
            <a:chExt cx="979872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9872" cy="812800"/>
            </a:xfrm>
            <a:custGeom>
              <a:avLst/>
              <a:gdLst/>
              <a:ahLst/>
              <a:cxnLst/>
              <a:rect r="r" b="b" t="t" l="l"/>
              <a:pathLst>
                <a:path h="812800" w="979872">
                  <a:moveTo>
                    <a:pt x="489936" y="0"/>
                  </a:moveTo>
                  <a:cubicBezTo>
                    <a:pt x="219352" y="0"/>
                    <a:pt x="0" y="181951"/>
                    <a:pt x="0" y="406400"/>
                  </a:cubicBezTo>
                  <a:cubicBezTo>
                    <a:pt x="0" y="630849"/>
                    <a:pt x="219352" y="812800"/>
                    <a:pt x="489936" y="812800"/>
                  </a:cubicBezTo>
                  <a:cubicBezTo>
                    <a:pt x="760520" y="812800"/>
                    <a:pt x="979872" y="630849"/>
                    <a:pt x="979872" y="406400"/>
                  </a:cubicBezTo>
                  <a:cubicBezTo>
                    <a:pt x="979872" y="181951"/>
                    <a:pt x="760520" y="0"/>
                    <a:pt x="489936" y="0"/>
                  </a:cubicBezTo>
                  <a:close/>
                </a:path>
              </a:pathLst>
            </a:custGeom>
            <a:solidFill>
              <a:srgbClr val="4F8FD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91863" y="9525"/>
              <a:ext cx="796146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0"/>
                </a:lnSpc>
              </a:pPr>
              <a:r>
                <a:rPr lang="en-US" b="true" sz="3293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05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67409" y="4245808"/>
            <a:ext cx="1196754" cy="992702"/>
            <a:chOff x="0" y="0"/>
            <a:chExt cx="979872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9872" cy="812800"/>
            </a:xfrm>
            <a:custGeom>
              <a:avLst/>
              <a:gdLst/>
              <a:ahLst/>
              <a:cxnLst/>
              <a:rect r="r" b="b" t="t" l="l"/>
              <a:pathLst>
                <a:path h="812800" w="979872">
                  <a:moveTo>
                    <a:pt x="489936" y="0"/>
                  </a:moveTo>
                  <a:cubicBezTo>
                    <a:pt x="219352" y="0"/>
                    <a:pt x="0" y="181951"/>
                    <a:pt x="0" y="406400"/>
                  </a:cubicBezTo>
                  <a:cubicBezTo>
                    <a:pt x="0" y="630849"/>
                    <a:pt x="219352" y="812800"/>
                    <a:pt x="489936" y="812800"/>
                  </a:cubicBezTo>
                  <a:cubicBezTo>
                    <a:pt x="760520" y="812800"/>
                    <a:pt x="979872" y="630849"/>
                    <a:pt x="979872" y="406400"/>
                  </a:cubicBezTo>
                  <a:cubicBezTo>
                    <a:pt x="979872" y="181951"/>
                    <a:pt x="760520" y="0"/>
                    <a:pt x="489936" y="0"/>
                  </a:cubicBezTo>
                  <a:close/>
                </a:path>
              </a:pathLst>
            </a:custGeom>
            <a:solidFill>
              <a:srgbClr val="4F8FD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91863" y="9525"/>
              <a:ext cx="796146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0"/>
                </a:lnSpc>
              </a:pPr>
              <a:r>
                <a:rPr lang="en-US" b="true" sz="3293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06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303212" y="6312951"/>
            <a:ext cx="1196754" cy="992702"/>
            <a:chOff x="0" y="0"/>
            <a:chExt cx="979872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9872" cy="812800"/>
            </a:xfrm>
            <a:custGeom>
              <a:avLst/>
              <a:gdLst/>
              <a:ahLst/>
              <a:cxnLst/>
              <a:rect r="r" b="b" t="t" l="l"/>
              <a:pathLst>
                <a:path h="812800" w="979872">
                  <a:moveTo>
                    <a:pt x="489936" y="0"/>
                  </a:moveTo>
                  <a:cubicBezTo>
                    <a:pt x="219352" y="0"/>
                    <a:pt x="0" y="181951"/>
                    <a:pt x="0" y="406400"/>
                  </a:cubicBezTo>
                  <a:cubicBezTo>
                    <a:pt x="0" y="630849"/>
                    <a:pt x="219352" y="812800"/>
                    <a:pt x="489936" y="812800"/>
                  </a:cubicBezTo>
                  <a:cubicBezTo>
                    <a:pt x="760520" y="812800"/>
                    <a:pt x="979872" y="630849"/>
                    <a:pt x="979872" y="406400"/>
                  </a:cubicBezTo>
                  <a:cubicBezTo>
                    <a:pt x="979872" y="181951"/>
                    <a:pt x="760520" y="0"/>
                    <a:pt x="489936" y="0"/>
                  </a:cubicBezTo>
                  <a:close/>
                </a:path>
              </a:pathLst>
            </a:custGeom>
            <a:solidFill>
              <a:srgbClr val="4F8FD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91863" y="9525"/>
              <a:ext cx="796146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0"/>
                </a:lnSpc>
              </a:pPr>
              <a:r>
                <a:rPr lang="en-US" b="true" sz="3293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07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539096" y="6312951"/>
            <a:ext cx="1196754" cy="992702"/>
            <a:chOff x="0" y="0"/>
            <a:chExt cx="979872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9872" cy="812800"/>
            </a:xfrm>
            <a:custGeom>
              <a:avLst/>
              <a:gdLst/>
              <a:ahLst/>
              <a:cxnLst/>
              <a:rect r="r" b="b" t="t" l="l"/>
              <a:pathLst>
                <a:path h="812800" w="979872">
                  <a:moveTo>
                    <a:pt x="489936" y="0"/>
                  </a:moveTo>
                  <a:cubicBezTo>
                    <a:pt x="219352" y="0"/>
                    <a:pt x="0" y="181951"/>
                    <a:pt x="0" y="406400"/>
                  </a:cubicBezTo>
                  <a:cubicBezTo>
                    <a:pt x="0" y="630849"/>
                    <a:pt x="219352" y="812800"/>
                    <a:pt x="489936" y="812800"/>
                  </a:cubicBezTo>
                  <a:cubicBezTo>
                    <a:pt x="760520" y="812800"/>
                    <a:pt x="979872" y="630849"/>
                    <a:pt x="979872" y="406400"/>
                  </a:cubicBezTo>
                  <a:cubicBezTo>
                    <a:pt x="979872" y="181951"/>
                    <a:pt x="760520" y="0"/>
                    <a:pt x="489936" y="0"/>
                  </a:cubicBezTo>
                  <a:close/>
                </a:path>
              </a:pathLst>
            </a:custGeom>
            <a:solidFill>
              <a:srgbClr val="4F8FD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91863" y="9525"/>
              <a:ext cx="796146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0"/>
                </a:lnSpc>
              </a:pPr>
              <a:r>
                <a:rPr lang="en-US" b="true" sz="3293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08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-1843573" y="-2585655"/>
            <a:ext cx="5462763" cy="5462763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6135112" y="1015317"/>
            <a:ext cx="1126451" cy="1089841"/>
          </a:xfrm>
          <a:custGeom>
            <a:avLst/>
            <a:gdLst/>
            <a:ahLst/>
            <a:cxnLst/>
            <a:rect r="r" b="b" t="t" l="l"/>
            <a:pathLst>
              <a:path h="1089841" w="1126451">
                <a:moveTo>
                  <a:pt x="0" y="0"/>
                </a:moveTo>
                <a:lnTo>
                  <a:pt x="1126451" y="0"/>
                </a:lnTo>
                <a:lnTo>
                  <a:pt x="1126451" y="1089841"/>
                </a:lnTo>
                <a:lnTo>
                  <a:pt x="0" y="10898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9767409" y="6312951"/>
            <a:ext cx="1196754" cy="992702"/>
            <a:chOff x="0" y="0"/>
            <a:chExt cx="979872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79872" cy="812800"/>
            </a:xfrm>
            <a:custGeom>
              <a:avLst/>
              <a:gdLst/>
              <a:ahLst/>
              <a:cxnLst/>
              <a:rect r="r" b="b" t="t" l="l"/>
              <a:pathLst>
                <a:path h="812800" w="979872">
                  <a:moveTo>
                    <a:pt x="489936" y="0"/>
                  </a:moveTo>
                  <a:cubicBezTo>
                    <a:pt x="219352" y="0"/>
                    <a:pt x="0" y="181951"/>
                    <a:pt x="0" y="406400"/>
                  </a:cubicBezTo>
                  <a:cubicBezTo>
                    <a:pt x="0" y="630849"/>
                    <a:pt x="219352" y="812800"/>
                    <a:pt x="489936" y="812800"/>
                  </a:cubicBezTo>
                  <a:cubicBezTo>
                    <a:pt x="760520" y="812800"/>
                    <a:pt x="979872" y="630849"/>
                    <a:pt x="979872" y="406400"/>
                  </a:cubicBezTo>
                  <a:cubicBezTo>
                    <a:pt x="979872" y="181951"/>
                    <a:pt x="760520" y="0"/>
                    <a:pt x="489936" y="0"/>
                  </a:cubicBezTo>
                  <a:close/>
                </a:path>
              </a:pathLst>
            </a:custGeom>
            <a:solidFill>
              <a:srgbClr val="4F8FD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91863" y="9525"/>
              <a:ext cx="796146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0"/>
                </a:lnSpc>
              </a:pPr>
              <a:r>
                <a:rPr lang="en-US" b="true" sz="3293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09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303212" y="8304350"/>
            <a:ext cx="1196754" cy="992702"/>
            <a:chOff x="0" y="0"/>
            <a:chExt cx="979872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79872" cy="812800"/>
            </a:xfrm>
            <a:custGeom>
              <a:avLst/>
              <a:gdLst/>
              <a:ahLst/>
              <a:cxnLst/>
              <a:rect r="r" b="b" t="t" l="l"/>
              <a:pathLst>
                <a:path h="812800" w="979872">
                  <a:moveTo>
                    <a:pt x="489936" y="0"/>
                  </a:moveTo>
                  <a:cubicBezTo>
                    <a:pt x="219352" y="0"/>
                    <a:pt x="0" y="181951"/>
                    <a:pt x="0" y="406400"/>
                  </a:cubicBezTo>
                  <a:cubicBezTo>
                    <a:pt x="0" y="630849"/>
                    <a:pt x="219352" y="812800"/>
                    <a:pt x="489936" y="812800"/>
                  </a:cubicBezTo>
                  <a:cubicBezTo>
                    <a:pt x="760520" y="812800"/>
                    <a:pt x="979872" y="630849"/>
                    <a:pt x="979872" y="406400"/>
                  </a:cubicBezTo>
                  <a:cubicBezTo>
                    <a:pt x="979872" y="181951"/>
                    <a:pt x="760520" y="0"/>
                    <a:pt x="489936" y="0"/>
                  </a:cubicBezTo>
                  <a:close/>
                </a:path>
              </a:pathLst>
            </a:custGeom>
            <a:solidFill>
              <a:srgbClr val="4F8FD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91863" y="9525"/>
              <a:ext cx="796146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0"/>
                </a:lnSpc>
              </a:pPr>
              <a:r>
                <a:rPr lang="en-US" b="true" sz="3293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10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539096" y="8304350"/>
            <a:ext cx="1196754" cy="992702"/>
            <a:chOff x="0" y="0"/>
            <a:chExt cx="979872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79872" cy="812800"/>
            </a:xfrm>
            <a:custGeom>
              <a:avLst/>
              <a:gdLst/>
              <a:ahLst/>
              <a:cxnLst/>
              <a:rect r="r" b="b" t="t" l="l"/>
              <a:pathLst>
                <a:path h="812800" w="979872">
                  <a:moveTo>
                    <a:pt x="489936" y="0"/>
                  </a:moveTo>
                  <a:cubicBezTo>
                    <a:pt x="219352" y="0"/>
                    <a:pt x="0" y="181951"/>
                    <a:pt x="0" y="406400"/>
                  </a:cubicBezTo>
                  <a:cubicBezTo>
                    <a:pt x="0" y="630849"/>
                    <a:pt x="219352" y="812800"/>
                    <a:pt x="489936" y="812800"/>
                  </a:cubicBezTo>
                  <a:cubicBezTo>
                    <a:pt x="760520" y="812800"/>
                    <a:pt x="979872" y="630849"/>
                    <a:pt x="979872" y="406400"/>
                  </a:cubicBezTo>
                  <a:cubicBezTo>
                    <a:pt x="979872" y="181951"/>
                    <a:pt x="760520" y="0"/>
                    <a:pt x="489936" y="0"/>
                  </a:cubicBezTo>
                  <a:close/>
                </a:path>
              </a:pathLst>
            </a:custGeom>
            <a:solidFill>
              <a:srgbClr val="4F8FD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91863" y="9525"/>
              <a:ext cx="796146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0"/>
                </a:lnSpc>
              </a:pPr>
              <a:r>
                <a:rPr lang="en-US" b="true" sz="3293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11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035269" y="2535824"/>
            <a:ext cx="8546957" cy="8546957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39086" t="0" r="-39086" b="0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5684007" y="5380928"/>
            <a:ext cx="2776006" cy="72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</a:pPr>
            <a:r>
              <a:rPr lang="en-US" sz="210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Funciones</a:t>
            </a:r>
          </a:p>
          <a:p>
            <a:pPr algn="ctr">
              <a:lnSpc>
                <a:spcPts val="2949"/>
              </a:lnSpc>
            </a:pPr>
            <a:r>
              <a:rPr lang="en-US" sz="210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Predefinidas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089608" y="5565398"/>
            <a:ext cx="2441645" cy="353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</a:pPr>
            <a:r>
              <a:rPr lang="en-US" sz="210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Métodos </a:t>
            </a:r>
            <a:r>
              <a:rPr lang="en-US" sz="210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Propios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615303" y="5380928"/>
            <a:ext cx="2441645" cy="72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</a:pPr>
            <a:r>
              <a:rPr lang="en-US" sz="210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Arreglos Unidimensionales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609366" y="7372328"/>
            <a:ext cx="3110366" cy="72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</a:pPr>
            <a:r>
              <a:rPr lang="en-US" sz="210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Archivos que escribe el Programa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615303" y="3549376"/>
            <a:ext cx="2441645" cy="353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</a:pPr>
            <a:r>
              <a:rPr lang="en-US" sz="210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Introducción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851187" y="3549376"/>
            <a:ext cx="2441645" cy="353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</a:pPr>
            <a:r>
              <a:rPr lang="en-US" sz="210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Laberinto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981432" y="3549376"/>
            <a:ext cx="2657996" cy="353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</a:pPr>
            <a:r>
              <a:rPr lang="en-US" sz="210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Table</a:t>
            </a:r>
            <a:r>
              <a:rPr lang="en-US" sz="210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ro (matrices)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707842" y="7372328"/>
            <a:ext cx="2441645" cy="72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</a:pPr>
            <a:r>
              <a:rPr lang="en-US" sz="210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Archivos que lee el Programa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837679" y="7556798"/>
            <a:ext cx="3110366" cy="353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</a:pPr>
            <a:r>
              <a:rPr lang="en-US" sz="210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Reto Técnico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669455" y="9363728"/>
            <a:ext cx="2387493" cy="72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</a:pPr>
            <a:r>
              <a:rPr lang="en-US" sz="210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Ejecución del Programa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905340" y="9548198"/>
            <a:ext cx="2387493" cy="353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</a:pPr>
            <a:r>
              <a:rPr lang="en-US" sz="210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Conclusión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2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72798" y="2228512"/>
            <a:ext cx="14342403" cy="6163610"/>
            <a:chOff x="0" y="0"/>
            <a:chExt cx="5135302" cy="2206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0010" y="80010"/>
              <a:ext cx="5042592" cy="2114172"/>
            </a:xfrm>
            <a:custGeom>
              <a:avLst/>
              <a:gdLst/>
              <a:ahLst/>
              <a:cxnLst/>
              <a:rect r="r" b="b" t="t" l="l"/>
              <a:pathLst>
                <a:path h="2114172" w="5042592">
                  <a:moveTo>
                    <a:pt x="0" y="2059563"/>
                  </a:moveTo>
                  <a:lnTo>
                    <a:pt x="0" y="2114172"/>
                  </a:lnTo>
                  <a:lnTo>
                    <a:pt x="5042592" y="2114172"/>
                  </a:lnTo>
                  <a:lnTo>
                    <a:pt x="5042592" y="0"/>
                  </a:lnTo>
                  <a:lnTo>
                    <a:pt x="4987982" y="0"/>
                  </a:lnTo>
                  <a:lnTo>
                    <a:pt x="4987982" y="2059563"/>
                  </a:ln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7310" y="67310"/>
              <a:ext cx="5067992" cy="2139572"/>
            </a:xfrm>
            <a:custGeom>
              <a:avLst/>
              <a:gdLst/>
              <a:ahLst/>
              <a:cxnLst/>
              <a:rect r="r" b="b" t="t" l="l"/>
              <a:pathLst>
                <a:path h="2139572" w="5067992">
                  <a:moveTo>
                    <a:pt x="5000682" y="0"/>
                  </a:moveTo>
                  <a:lnTo>
                    <a:pt x="5000682" y="12700"/>
                  </a:lnTo>
                  <a:lnTo>
                    <a:pt x="5055292" y="12700"/>
                  </a:lnTo>
                  <a:lnTo>
                    <a:pt x="5055292" y="2126872"/>
                  </a:lnTo>
                  <a:lnTo>
                    <a:pt x="12700" y="2126872"/>
                  </a:lnTo>
                  <a:lnTo>
                    <a:pt x="12700" y="2072263"/>
                  </a:lnTo>
                  <a:lnTo>
                    <a:pt x="0" y="2072263"/>
                  </a:lnTo>
                  <a:lnTo>
                    <a:pt x="0" y="2139572"/>
                  </a:lnTo>
                  <a:lnTo>
                    <a:pt x="5067992" y="2139572"/>
                  </a:lnTo>
                  <a:lnTo>
                    <a:pt x="5067992" y="0"/>
                  </a:ln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700" y="12700"/>
              <a:ext cx="5042592" cy="2114173"/>
            </a:xfrm>
            <a:custGeom>
              <a:avLst/>
              <a:gdLst/>
              <a:ahLst/>
              <a:cxnLst/>
              <a:rect r="r" b="b" t="t" l="l"/>
              <a:pathLst>
                <a:path h="2114173" w="5042592">
                  <a:moveTo>
                    <a:pt x="0" y="0"/>
                  </a:moveTo>
                  <a:lnTo>
                    <a:pt x="5042592" y="0"/>
                  </a:lnTo>
                  <a:lnTo>
                    <a:pt x="5042592" y="2114173"/>
                  </a:lnTo>
                  <a:lnTo>
                    <a:pt x="0" y="211417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67992" cy="2139573"/>
            </a:xfrm>
            <a:custGeom>
              <a:avLst/>
              <a:gdLst/>
              <a:ahLst/>
              <a:cxnLst/>
              <a:rect r="r" b="b" t="t" l="l"/>
              <a:pathLst>
                <a:path h="2139573" w="5067992">
                  <a:moveTo>
                    <a:pt x="80010" y="2139573"/>
                  </a:moveTo>
                  <a:lnTo>
                    <a:pt x="5067992" y="2139573"/>
                  </a:lnTo>
                  <a:lnTo>
                    <a:pt x="5067992" y="80010"/>
                  </a:lnTo>
                  <a:lnTo>
                    <a:pt x="5067992" y="67310"/>
                  </a:lnTo>
                  <a:lnTo>
                    <a:pt x="5067992" y="0"/>
                  </a:lnTo>
                  <a:lnTo>
                    <a:pt x="0" y="0"/>
                  </a:lnTo>
                  <a:lnTo>
                    <a:pt x="0" y="2139573"/>
                  </a:lnTo>
                  <a:lnTo>
                    <a:pt x="67310" y="2139573"/>
                  </a:lnTo>
                  <a:lnTo>
                    <a:pt x="80010" y="2139573"/>
                  </a:lnTo>
                  <a:close/>
                  <a:moveTo>
                    <a:pt x="12700" y="12700"/>
                  </a:moveTo>
                  <a:lnTo>
                    <a:pt x="5055292" y="12700"/>
                  </a:lnTo>
                  <a:lnTo>
                    <a:pt x="5055292" y="2126873"/>
                  </a:lnTo>
                  <a:lnTo>
                    <a:pt x="12700" y="212687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4F8FD1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468746" y="644612"/>
            <a:ext cx="1126451" cy="1089841"/>
          </a:xfrm>
          <a:custGeom>
            <a:avLst/>
            <a:gdLst/>
            <a:ahLst/>
            <a:cxnLst/>
            <a:rect r="r" b="b" t="t" l="l"/>
            <a:pathLst>
              <a:path h="1089841" w="1126451">
                <a:moveTo>
                  <a:pt x="0" y="0"/>
                </a:moveTo>
                <a:lnTo>
                  <a:pt x="1126451" y="0"/>
                </a:lnTo>
                <a:lnTo>
                  <a:pt x="1126451" y="1089841"/>
                </a:lnTo>
                <a:lnTo>
                  <a:pt x="0" y="10898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28349" y="2751003"/>
            <a:ext cx="8431301" cy="125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67"/>
              </a:lnSpc>
              <a:spcBef>
                <a:spcPct val="0"/>
              </a:spcBef>
            </a:pPr>
            <a:r>
              <a:rPr lang="en-US" b="true" sz="7191" strike="noStrike" u="none">
                <a:solidFill>
                  <a:srgbClr val="4F8FD1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INTRODUCCIÓN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79040" y="4150888"/>
            <a:ext cx="13529920" cy="49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E072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</a:t>
            </a:r>
            <a:r>
              <a:rPr lang="en-US" b="true" sz="2899" strike="noStrike" u="none">
                <a:solidFill>
                  <a:srgbClr val="0E072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esarrollo de un juego interactivo aplicando estructuras fundamentales.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9040" y="5015016"/>
            <a:ext cx="13529920" cy="231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0E0722"/>
                </a:solidFill>
                <a:latin typeface="Noto Sans"/>
                <a:ea typeface="Noto Sans"/>
                <a:cs typeface="Noto Sans"/>
                <a:sym typeface="Noto Sans"/>
              </a:rPr>
              <a:t>Proy</a:t>
            </a:r>
            <a:r>
              <a:rPr lang="en-US" sz="2599" strike="noStrike" u="none">
                <a:solidFill>
                  <a:srgbClr val="0E0722"/>
                </a:solidFill>
                <a:latin typeface="Noto Sans"/>
                <a:ea typeface="Noto Sans"/>
                <a:cs typeface="Noto Sans"/>
                <a:sym typeface="Noto Sans"/>
              </a:rPr>
              <a:t>ecto realizado para demostrar el uso de programación estructurada en Java.</a:t>
            </a:r>
          </a:p>
          <a:p>
            <a:pPr algn="l" marL="561339" indent="-280669" lvl="1">
              <a:lnSpc>
                <a:spcPts val="4679"/>
              </a:lnSpc>
              <a:buFont typeface="Arial"/>
              <a:buChar char="•"/>
            </a:pPr>
            <a:r>
              <a:rPr lang="en-US" sz="2599" strike="noStrike" u="none">
                <a:solidFill>
                  <a:srgbClr val="0E0722"/>
                </a:solidFill>
                <a:latin typeface="Noto Sans"/>
                <a:ea typeface="Noto Sans"/>
                <a:cs typeface="Noto Sans"/>
                <a:sym typeface="Noto Sans"/>
              </a:rPr>
              <a:t>Aplicación de matrices, arreglos unidimensionales, condicionales, ciclos y métodos.</a:t>
            </a:r>
          </a:p>
          <a:p>
            <a:pPr algn="l" marL="561339" indent="-280669" lvl="1">
              <a:lnSpc>
                <a:spcPts val="4679"/>
              </a:lnSpc>
              <a:buFont typeface="Arial"/>
              <a:buChar char="•"/>
            </a:pPr>
            <a:r>
              <a:rPr lang="en-US" sz="2599" strike="noStrike" u="none">
                <a:solidFill>
                  <a:srgbClr val="0E0722"/>
                </a:solidFill>
                <a:latin typeface="Noto Sans"/>
                <a:ea typeface="Noto Sans"/>
                <a:cs typeface="Noto Sans"/>
                <a:sym typeface="Noto Sans"/>
              </a:rPr>
              <a:t>Implementación de lectura y escritura de archivos como parte obligatoria.</a:t>
            </a:r>
          </a:p>
          <a:p>
            <a:pPr algn="l" marL="561339" indent="-280669" lvl="1">
              <a:lnSpc>
                <a:spcPts val="4679"/>
              </a:lnSpc>
              <a:buFont typeface="Arial"/>
              <a:buChar char="•"/>
            </a:pPr>
            <a:r>
              <a:rPr lang="en-US" sz="2599" strike="noStrike" u="none">
                <a:solidFill>
                  <a:srgbClr val="0E0722"/>
                </a:solidFill>
                <a:latin typeface="Noto Sans"/>
                <a:ea typeface="Noto Sans"/>
                <a:cs typeface="Noto Sans"/>
                <a:sym typeface="Noto Sans"/>
              </a:rPr>
              <a:t>Desarrollo de un programa funcional que permita interacción real con el usuario.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2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856925" y="6662293"/>
            <a:ext cx="12549976" cy="12663776"/>
            <a:chOff x="0" y="0"/>
            <a:chExt cx="812800" cy="820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555172" y="3808303"/>
            <a:ext cx="1169131" cy="1160363"/>
          </a:xfrm>
          <a:custGeom>
            <a:avLst/>
            <a:gdLst/>
            <a:ahLst/>
            <a:cxnLst/>
            <a:rect r="r" b="b" t="t" l="l"/>
            <a:pathLst>
              <a:path h="1160363" w="1169131">
                <a:moveTo>
                  <a:pt x="0" y="0"/>
                </a:moveTo>
                <a:lnTo>
                  <a:pt x="1169131" y="0"/>
                </a:lnTo>
                <a:lnTo>
                  <a:pt x="1169131" y="1160363"/>
                </a:lnTo>
                <a:lnTo>
                  <a:pt x="0" y="1160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55172" y="5635416"/>
            <a:ext cx="1169131" cy="1160363"/>
          </a:xfrm>
          <a:custGeom>
            <a:avLst/>
            <a:gdLst/>
            <a:ahLst/>
            <a:cxnLst/>
            <a:rect r="r" b="b" t="t" l="l"/>
            <a:pathLst>
              <a:path h="1160363" w="1169131">
                <a:moveTo>
                  <a:pt x="0" y="0"/>
                </a:moveTo>
                <a:lnTo>
                  <a:pt x="1169131" y="0"/>
                </a:lnTo>
                <a:lnTo>
                  <a:pt x="1169131" y="1160363"/>
                </a:lnTo>
                <a:lnTo>
                  <a:pt x="0" y="1160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55172" y="7463474"/>
            <a:ext cx="1169131" cy="1160363"/>
          </a:xfrm>
          <a:custGeom>
            <a:avLst/>
            <a:gdLst/>
            <a:ahLst/>
            <a:cxnLst/>
            <a:rect r="r" b="b" t="t" l="l"/>
            <a:pathLst>
              <a:path h="1160363" w="1169131">
                <a:moveTo>
                  <a:pt x="0" y="0"/>
                </a:moveTo>
                <a:lnTo>
                  <a:pt x="1169131" y="0"/>
                </a:lnTo>
                <a:lnTo>
                  <a:pt x="1169131" y="1160362"/>
                </a:lnTo>
                <a:lnTo>
                  <a:pt x="0" y="11603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212158" y="-2406548"/>
            <a:ext cx="4769843" cy="4813095"/>
            <a:chOff x="0" y="0"/>
            <a:chExt cx="812800" cy="8201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132849" y="8713379"/>
            <a:ext cx="1126451" cy="1089841"/>
          </a:xfrm>
          <a:custGeom>
            <a:avLst/>
            <a:gdLst/>
            <a:ahLst/>
            <a:cxnLst/>
            <a:rect r="r" b="b" t="t" l="l"/>
            <a:pathLst>
              <a:path h="1089841" w="1126451">
                <a:moveTo>
                  <a:pt x="0" y="0"/>
                </a:moveTo>
                <a:lnTo>
                  <a:pt x="1126451" y="0"/>
                </a:lnTo>
                <a:lnTo>
                  <a:pt x="1126451" y="1089842"/>
                </a:lnTo>
                <a:lnTo>
                  <a:pt x="0" y="1089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53480" y="2406548"/>
            <a:ext cx="6251823" cy="6057010"/>
            <a:chOff x="0" y="0"/>
            <a:chExt cx="1646571" cy="15952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46571" cy="1595262"/>
            </a:xfrm>
            <a:custGeom>
              <a:avLst/>
              <a:gdLst/>
              <a:ahLst/>
              <a:cxnLst/>
              <a:rect r="r" b="b" t="t" l="l"/>
              <a:pathLst>
                <a:path h="1595262" w="1646571">
                  <a:moveTo>
                    <a:pt x="123835" y="0"/>
                  </a:moveTo>
                  <a:lnTo>
                    <a:pt x="1522736" y="0"/>
                  </a:lnTo>
                  <a:cubicBezTo>
                    <a:pt x="1591128" y="0"/>
                    <a:pt x="1646571" y="55443"/>
                    <a:pt x="1646571" y="123835"/>
                  </a:cubicBezTo>
                  <a:lnTo>
                    <a:pt x="1646571" y="1471427"/>
                  </a:lnTo>
                  <a:cubicBezTo>
                    <a:pt x="1646571" y="1539819"/>
                    <a:pt x="1591128" y="1595262"/>
                    <a:pt x="1522736" y="1595262"/>
                  </a:cubicBezTo>
                  <a:lnTo>
                    <a:pt x="123835" y="1595262"/>
                  </a:lnTo>
                  <a:cubicBezTo>
                    <a:pt x="55443" y="1595262"/>
                    <a:pt x="0" y="1539819"/>
                    <a:pt x="0" y="1471427"/>
                  </a:cubicBezTo>
                  <a:lnTo>
                    <a:pt x="0" y="123835"/>
                  </a:lnTo>
                  <a:cubicBezTo>
                    <a:pt x="0" y="55443"/>
                    <a:pt x="55443" y="0"/>
                    <a:pt x="123835" y="0"/>
                  </a:cubicBezTo>
                  <a:close/>
                </a:path>
              </a:pathLst>
            </a:custGeom>
            <a:solidFill>
              <a:srgbClr val="99AC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646571" cy="1633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555172" y="1513176"/>
            <a:ext cx="7851775" cy="189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4"/>
              </a:lnSpc>
              <a:spcBef>
                <a:spcPct val="0"/>
              </a:spcBef>
            </a:pPr>
            <a:r>
              <a:rPr lang="en-US" b="true" sz="5395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JUEGO DE LABERINTO EN JAVA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22153" y="3715466"/>
            <a:ext cx="7210696" cy="1298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El jueg</a:t>
            </a:r>
            <a:r>
              <a:rPr lang="en-US" sz="2499" strike="noStrike" u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o carga un laberinto en formato ASCII desde un archivo de texto y coloca al jugador en la entrada marcada como 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55172" y="3786363"/>
            <a:ext cx="1023363" cy="119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67"/>
              </a:lnSpc>
              <a:spcBef>
                <a:spcPct val="0"/>
              </a:spcBef>
            </a:pPr>
            <a:r>
              <a:rPr lang="en-US" b="true" sz="6905">
                <a:solidFill>
                  <a:srgbClr val="4F8FD1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55172" y="5613475"/>
            <a:ext cx="1023363" cy="119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67"/>
              </a:lnSpc>
              <a:spcBef>
                <a:spcPct val="0"/>
              </a:spcBef>
            </a:pPr>
            <a:r>
              <a:rPr lang="en-US" b="true" sz="6905">
                <a:solidFill>
                  <a:srgbClr val="4F8FD1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55172" y="7441533"/>
            <a:ext cx="1023363" cy="119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67"/>
              </a:lnSpc>
              <a:spcBef>
                <a:spcPct val="0"/>
              </a:spcBef>
            </a:pPr>
            <a:r>
              <a:rPr lang="en-US" b="true" sz="6905">
                <a:solidFill>
                  <a:srgbClr val="4F8FD1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22153" y="5542579"/>
            <a:ext cx="7210696" cy="1298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El </a:t>
            </a:r>
            <a:r>
              <a:rPr lang="en-US" sz="2499" strike="noStrike" u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objetivo es recorrer los pasillos del laberinto, evitando muros #, hasta encontrar la S, que representa la salida.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22153" y="7370636"/>
            <a:ext cx="7210696" cy="1298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El</a:t>
            </a:r>
            <a:r>
              <a:rPr lang="en-US" sz="2499" strike="noStrike" u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jugador se desplaza usando comandos W, A, S, D, y la partida termina cuando llega a la salida o decide abandonar.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90361" y="2546021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3"/>
                </a:lnTo>
                <a:lnTo>
                  <a:pt x="0" y="57780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2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70094" y="-1367377"/>
            <a:ext cx="5147295" cy="5193970"/>
            <a:chOff x="0" y="0"/>
            <a:chExt cx="812800" cy="820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57454" y="2571734"/>
            <a:ext cx="6605175" cy="7334267"/>
            <a:chOff x="0" y="0"/>
            <a:chExt cx="1581611" cy="17561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0010" y="80010"/>
              <a:ext cx="1488901" cy="1663483"/>
            </a:xfrm>
            <a:custGeom>
              <a:avLst/>
              <a:gdLst/>
              <a:ahLst/>
              <a:cxnLst/>
              <a:rect r="r" b="b" t="t" l="l"/>
              <a:pathLst>
                <a:path h="1663483" w="1488901">
                  <a:moveTo>
                    <a:pt x="0" y="1608873"/>
                  </a:moveTo>
                  <a:lnTo>
                    <a:pt x="0" y="1663483"/>
                  </a:lnTo>
                  <a:lnTo>
                    <a:pt x="1488901" y="1663483"/>
                  </a:lnTo>
                  <a:lnTo>
                    <a:pt x="1488901" y="0"/>
                  </a:lnTo>
                  <a:lnTo>
                    <a:pt x="1434291" y="0"/>
                  </a:lnTo>
                  <a:lnTo>
                    <a:pt x="1434291" y="1608873"/>
                  </a:ln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7310" y="67310"/>
              <a:ext cx="1514301" cy="1688883"/>
            </a:xfrm>
            <a:custGeom>
              <a:avLst/>
              <a:gdLst/>
              <a:ahLst/>
              <a:cxnLst/>
              <a:rect r="r" b="b" t="t" l="l"/>
              <a:pathLst>
                <a:path h="1688883" w="1514301">
                  <a:moveTo>
                    <a:pt x="1446991" y="0"/>
                  </a:moveTo>
                  <a:lnTo>
                    <a:pt x="1446991" y="12700"/>
                  </a:lnTo>
                  <a:lnTo>
                    <a:pt x="1501601" y="12700"/>
                  </a:lnTo>
                  <a:lnTo>
                    <a:pt x="1501601" y="1676183"/>
                  </a:lnTo>
                  <a:lnTo>
                    <a:pt x="12700" y="1676183"/>
                  </a:lnTo>
                  <a:lnTo>
                    <a:pt x="12700" y="1621573"/>
                  </a:lnTo>
                  <a:lnTo>
                    <a:pt x="0" y="1621573"/>
                  </a:lnTo>
                  <a:lnTo>
                    <a:pt x="0" y="1688883"/>
                  </a:lnTo>
                  <a:lnTo>
                    <a:pt x="1514301" y="1688883"/>
                  </a:lnTo>
                  <a:lnTo>
                    <a:pt x="1514301" y="0"/>
                  </a:ln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1488901" cy="1663483"/>
            </a:xfrm>
            <a:custGeom>
              <a:avLst/>
              <a:gdLst/>
              <a:ahLst/>
              <a:cxnLst/>
              <a:rect r="r" b="b" t="t" l="l"/>
              <a:pathLst>
                <a:path h="1663483" w="1488901">
                  <a:moveTo>
                    <a:pt x="0" y="0"/>
                  </a:moveTo>
                  <a:lnTo>
                    <a:pt x="1488901" y="0"/>
                  </a:lnTo>
                  <a:lnTo>
                    <a:pt x="1488901" y="1663483"/>
                  </a:lnTo>
                  <a:lnTo>
                    <a:pt x="0" y="16634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14301" cy="1688883"/>
            </a:xfrm>
            <a:custGeom>
              <a:avLst/>
              <a:gdLst/>
              <a:ahLst/>
              <a:cxnLst/>
              <a:rect r="r" b="b" t="t" l="l"/>
              <a:pathLst>
                <a:path h="1688883" w="1514301">
                  <a:moveTo>
                    <a:pt x="80010" y="1688883"/>
                  </a:moveTo>
                  <a:lnTo>
                    <a:pt x="1514301" y="1688883"/>
                  </a:lnTo>
                  <a:lnTo>
                    <a:pt x="1514301" y="80010"/>
                  </a:lnTo>
                  <a:lnTo>
                    <a:pt x="1514301" y="67310"/>
                  </a:lnTo>
                  <a:lnTo>
                    <a:pt x="1514301" y="0"/>
                  </a:lnTo>
                  <a:lnTo>
                    <a:pt x="0" y="0"/>
                  </a:lnTo>
                  <a:lnTo>
                    <a:pt x="0" y="1688883"/>
                  </a:lnTo>
                  <a:lnTo>
                    <a:pt x="67310" y="1688883"/>
                  </a:lnTo>
                  <a:lnTo>
                    <a:pt x="80010" y="1688883"/>
                  </a:lnTo>
                  <a:close/>
                  <a:moveTo>
                    <a:pt x="12700" y="12700"/>
                  </a:moveTo>
                  <a:lnTo>
                    <a:pt x="1501601" y="12700"/>
                  </a:lnTo>
                  <a:lnTo>
                    <a:pt x="1501601" y="1676183"/>
                  </a:lnTo>
                  <a:lnTo>
                    <a:pt x="12700" y="167618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4F8FD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1737095" y="9258300"/>
            <a:ext cx="2765795" cy="2790875"/>
            <a:chOff x="0" y="0"/>
            <a:chExt cx="812800" cy="8201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685967" y="385705"/>
            <a:ext cx="1126451" cy="1089841"/>
          </a:xfrm>
          <a:custGeom>
            <a:avLst/>
            <a:gdLst/>
            <a:ahLst/>
            <a:cxnLst/>
            <a:rect r="r" b="b" t="t" l="l"/>
            <a:pathLst>
              <a:path h="1089841" w="1126451">
                <a:moveTo>
                  <a:pt x="0" y="0"/>
                </a:moveTo>
                <a:lnTo>
                  <a:pt x="1126451" y="0"/>
                </a:lnTo>
                <a:lnTo>
                  <a:pt x="1126451" y="1089841"/>
                </a:lnTo>
                <a:lnTo>
                  <a:pt x="0" y="10898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02077" y="751611"/>
            <a:ext cx="6579867" cy="1514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82"/>
              </a:lnSpc>
            </a:pPr>
            <a:r>
              <a:rPr lang="en-US" b="true" sz="5455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T</a:t>
            </a:r>
            <a:r>
              <a:rPr lang="en-US" b="true" sz="5455" strike="noStrike" u="none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ABLERO</a:t>
            </a:r>
            <a:r>
              <a:rPr lang="en-US" b="true" sz="5455" strike="noStrike" u="none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 CON MATRICES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495169"/>
            <a:ext cx="9382997" cy="676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7"/>
              </a:lnSpc>
            </a:pPr>
            <a:r>
              <a:rPr lang="en-US" sz="2700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En el juego, el tablero del laberinto está representado con una matriz bidimensional de caracteres (char[][]).</a:t>
            </a:r>
          </a:p>
          <a:p>
            <a:pPr algn="l">
              <a:lnSpc>
                <a:spcPts val="4887"/>
              </a:lnSpc>
            </a:pPr>
          </a:p>
          <a:p>
            <a:pPr algn="l">
              <a:lnSpc>
                <a:spcPts val="4887"/>
              </a:lnSpc>
            </a:pPr>
            <a:r>
              <a:rPr lang="en-US" sz="2700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Cada posición de la matriz corresponde a un espacio del laberinto.</a:t>
            </a:r>
          </a:p>
          <a:p>
            <a:pPr algn="l">
              <a:lnSpc>
                <a:spcPts val="4887"/>
              </a:lnSpc>
            </a:pPr>
          </a:p>
          <a:p>
            <a:pPr algn="l">
              <a:lnSpc>
                <a:spcPts val="4887"/>
              </a:lnSpc>
            </a:pPr>
            <a:r>
              <a:rPr lang="en-US" b="true" sz="27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Cada símbolo tiene</a:t>
            </a:r>
            <a:r>
              <a:rPr lang="en-US" b="true" sz="2700" strike="noStrike" u="non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un significado:</a:t>
            </a:r>
          </a:p>
          <a:p>
            <a:pPr algn="l">
              <a:lnSpc>
                <a:spcPts val="4887"/>
              </a:lnSpc>
            </a:pPr>
            <a:r>
              <a:rPr lang="en-US" b="true" sz="2700" strike="noStrike" u="none">
                <a:solidFill>
                  <a:srgbClr val="1D29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# </a:t>
            </a:r>
            <a:r>
              <a:rPr lang="en-US" b="true" sz="2700" strike="noStrike" u="non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 muro</a:t>
            </a:r>
          </a:p>
          <a:p>
            <a:pPr algn="l">
              <a:lnSpc>
                <a:spcPts val="4887"/>
              </a:lnSpc>
            </a:pPr>
            <a:r>
              <a:rPr lang="en-US" b="true" sz="2700" strike="noStrike" u="none">
                <a:solidFill>
                  <a:srgbClr val="1D29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(espacio)</a:t>
            </a:r>
            <a:r>
              <a:rPr lang="en-US" b="true" sz="2700" strike="noStrike" u="non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= pasillo</a:t>
            </a:r>
          </a:p>
          <a:p>
            <a:pPr algn="l">
              <a:lnSpc>
                <a:spcPts val="4887"/>
              </a:lnSpc>
            </a:pPr>
            <a:r>
              <a:rPr lang="en-US" b="true" sz="2700" strike="noStrike" u="none">
                <a:solidFill>
                  <a:srgbClr val="1D29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</a:t>
            </a:r>
            <a:r>
              <a:rPr lang="en-US" b="true" sz="2700" strike="noStrike" u="non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= entrada</a:t>
            </a:r>
          </a:p>
          <a:p>
            <a:pPr algn="l" marL="0" indent="0" lvl="1">
              <a:lnSpc>
                <a:spcPts val="4887"/>
              </a:lnSpc>
            </a:pPr>
            <a:r>
              <a:rPr lang="en-US" b="true" sz="2700" strike="noStrike" u="none">
                <a:solidFill>
                  <a:srgbClr val="1D29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</a:t>
            </a:r>
            <a:r>
              <a:rPr lang="en-US" b="true" sz="2700" strike="noStrike" u="non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= salida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38894" y="2927616"/>
            <a:ext cx="5521410" cy="614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7"/>
              </a:lnSpc>
            </a:pPr>
            <a:r>
              <a:rPr lang="en-US" sz="2700" b="true">
                <a:solidFill>
                  <a:srgbClr val="1D29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¿Por qué usar</a:t>
            </a:r>
            <a:r>
              <a:rPr lang="en-US" sz="2700" b="true">
                <a:solidFill>
                  <a:srgbClr val="1D29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matrices?</a:t>
            </a:r>
          </a:p>
          <a:p>
            <a:pPr algn="l" marL="582930" indent="-291465" lvl="1">
              <a:lnSpc>
                <a:spcPts val="4887"/>
              </a:lnSpc>
              <a:buFont typeface="Arial"/>
              <a:buChar char="•"/>
            </a:pPr>
            <a:r>
              <a:rPr lang="en-US" sz="2700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Permiten simular el mapa completo del laberinto.</a:t>
            </a:r>
          </a:p>
          <a:p>
            <a:pPr algn="l" marL="582930" indent="-291465" lvl="1">
              <a:lnSpc>
                <a:spcPts val="4887"/>
              </a:lnSpc>
              <a:buFont typeface="Arial"/>
              <a:buChar char="•"/>
            </a:pPr>
            <a:r>
              <a:rPr lang="en-US" sz="2700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Facilitan validar movimientos (arriba, abajo, izquierda, derecha).</a:t>
            </a:r>
          </a:p>
          <a:p>
            <a:pPr algn="l" marL="582930" indent="-291465" lvl="1">
              <a:lnSpc>
                <a:spcPts val="4887"/>
              </a:lnSpc>
              <a:buFont typeface="Arial"/>
              <a:buChar char="•"/>
            </a:pPr>
            <a:r>
              <a:rPr lang="en-US" sz="2700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Ayu</a:t>
            </a:r>
            <a:r>
              <a:rPr lang="en-US" sz="2700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dan a detectar colisiones con paredes.</a:t>
            </a:r>
          </a:p>
          <a:p>
            <a:pPr algn="l" marL="582930" indent="-291465" lvl="1">
              <a:lnSpc>
                <a:spcPts val="4887"/>
              </a:lnSpc>
              <a:buFont typeface="Arial"/>
              <a:buChar char="•"/>
            </a:pPr>
            <a:r>
              <a:rPr lang="en-US" sz="2700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H</a:t>
            </a:r>
            <a:r>
              <a:rPr lang="en-US" sz="2700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ace</a:t>
            </a:r>
            <a:r>
              <a:rPr lang="en-US" sz="2700" strike="noStrike" u="none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n más fácil imprimir el laberinto en pantalla.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8136" y="2275533"/>
            <a:ext cx="5985042" cy="5940154"/>
          </a:xfrm>
          <a:custGeom>
            <a:avLst/>
            <a:gdLst/>
            <a:ahLst/>
            <a:cxnLst/>
            <a:rect r="r" b="b" t="t" l="l"/>
            <a:pathLst>
              <a:path h="5940154" w="5985042">
                <a:moveTo>
                  <a:pt x="0" y="0"/>
                </a:moveTo>
                <a:lnTo>
                  <a:pt x="5985041" y="0"/>
                </a:lnTo>
                <a:lnTo>
                  <a:pt x="5985041" y="5940154"/>
                </a:lnTo>
                <a:lnTo>
                  <a:pt x="0" y="5940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6384927" y="5689115"/>
            <a:ext cx="2773715" cy="1172670"/>
          </a:xfrm>
          <a:prstGeom prst="line">
            <a:avLst/>
          </a:prstGeom>
          <a:ln cap="rnd" w="38100">
            <a:solidFill>
              <a:srgbClr val="ACB8C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-7491370" y="3899983"/>
            <a:ext cx="3880159" cy="2961802"/>
          </a:xfrm>
          <a:prstGeom prst="line">
            <a:avLst/>
          </a:prstGeom>
          <a:ln cap="rnd" w="38100">
            <a:solidFill>
              <a:srgbClr val="ACB8C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" id="5"/>
          <p:cNvSpPr/>
          <p:nvPr/>
        </p:nvSpPr>
        <p:spPr>
          <a:xfrm flipV="true">
            <a:off x="6453177" y="1090603"/>
            <a:ext cx="2274255" cy="4155006"/>
          </a:xfrm>
          <a:prstGeom prst="line">
            <a:avLst/>
          </a:prstGeom>
          <a:ln cap="rnd" w="85725">
            <a:solidFill>
              <a:srgbClr val="4F8FD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" id="6"/>
          <p:cNvSpPr/>
          <p:nvPr/>
        </p:nvSpPr>
        <p:spPr>
          <a:xfrm flipV="true">
            <a:off x="6453177" y="3178706"/>
            <a:ext cx="2274255" cy="2066904"/>
          </a:xfrm>
          <a:prstGeom prst="line">
            <a:avLst/>
          </a:prstGeom>
          <a:ln cap="rnd" w="85725">
            <a:solidFill>
              <a:srgbClr val="4F8FD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>
            <a:off x="6453177" y="5245610"/>
            <a:ext cx="2274255" cy="23440"/>
          </a:xfrm>
          <a:prstGeom prst="line">
            <a:avLst/>
          </a:prstGeom>
          <a:ln cap="rnd" w="85725">
            <a:solidFill>
              <a:srgbClr val="4F8FD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8" id="8"/>
          <p:cNvGrpSpPr/>
          <p:nvPr/>
        </p:nvGrpSpPr>
        <p:grpSpPr>
          <a:xfrm rot="0">
            <a:off x="8727432" y="399721"/>
            <a:ext cx="1381765" cy="138176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8FD1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1">
                <a:lnSpc>
                  <a:spcPts val="942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727432" y="2487823"/>
            <a:ext cx="1381765" cy="138176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8FD1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1">
                <a:lnSpc>
                  <a:spcPts val="942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727432" y="4578167"/>
            <a:ext cx="1381765" cy="138176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8FD1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1">
                <a:lnSpc>
                  <a:spcPts val="942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27432" y="6529941"/>
            <a:ext cx="1381765" cy="138176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8FD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1">
                <a:lnSpc>
                  <a:spcPts val="9427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0" id="20"/>
          <p:cNvSpPr/>
          <p:nvPr/>
        </p:nvSpPr>
        <p:spPr>
          <a:xfrm>
            <a:off x="6453177" y="5245610"/>
            <a:ext cx="2274255" cy="1975214"/>
          </a:xfrm>
          <a:prstGeom prst="line">
            <a:avLst/>
          </a:prstGeom>
          <a:ln cap="rnd" w="85725">
            <a:solidFill>
              <a:srgbClr val="4F8FD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15887306" y="-2721806"/>
            <a:ext cx="4801388" cy="4844925"/>
            <a:chOff x="0" y="0"/>
            <a:chExt cx="812800" cy="8201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2E3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-1680925" y="8267090"/>
            <a:ext cx="4801388" cy="4844925"/>
            <a:chOff x="0" y="0"/>
            <a:chExt cx="812800" cy="82017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2E3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636676" y="-556041"/>
            <a:ext cx="984659" cy="993588"/>
            <a:chOff x="0" y="0"/>
            <a:chExt cx="812800" cy="8201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2E3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020718" y="9695965"/>
            <a:ext cx="984659" cy="993588"/>
            <a:chOff x="0" y="0"/>
            <a:chExt cx="812800" cy="8201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2E3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120462" y="8866377"/>
            <a:ext cx="484221" cy="488612"/>
            <a:chOff x="0" y="0"/>
            <a:chExt cx="812800" cy="8201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2E3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246248" y="235640"/>
            <a:ext cx="4126531" cy="446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4"/>
              </a:lnSpc>
              <a:spcBef>
                <a:spcPct val="0"/>
              </a:spcBef>
            </a:pPr>
            <a:r>
              <a:rPr lang="en-US" b="true" sz="2596">
                <a:solidFill>
                  <a:srgbClr val="532CF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String[] direcciones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46248" y="680827"/>
            <a:ext cx="6827978" cy="35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907"/>
              </a:lnSpc>
              <a:spcBef>
                <a:spcPct val="0"/>
              </a:spcBef>
            </a:pPr>
            <a:r>
              <a:rPr lang="en-US" sz="2076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Se encuentra en </a:t>
            </a:r>
            <a:r>
              <a:rPr lang="en-US" b="true" sz="2076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mostrarDirecciones()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860908" y="609262"/>
            <a:ext cx="1114812" cy="88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353"/>
              </a:lnSpc>
              <a:spcBef>
                <a:spcPct val="0"/>
              </a:spcBef>
            </a:pPr>
            <a:r>
              <a:rPr lang="en-US" b="true" sz="5252">
                <a:solidFill>
                  <a:srgbClr val="4F8FD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860908" y="2697364"/>
            <a:ext cx="1114812" cy="88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353"/>
              </a:lnSpc>
              <a:spcBef>
                <a:spcPct val="0"/>
              </a:spcBef>
            </a:pPr>
            <a:r>
              <a:rPr lang="en-US" b="true" sz="5252">
                <a:solidFill>
                  <a:srgbClr val="4F8FD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860908" y="4787708"/>
            <a:ext cx="1114812" cy="88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353"/>
              </a:lnSpc>
              <a:spcBef>
                <a:spcPct val="0"/>
              </a:spcBef>
            </a:pPr>
            <a:r>
              <a:rPr lang="en-US" b="true" sz="5252">
                <a:solidFill>
                  <a:srgbClr val="4F8FD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860908" y="6739482"/>
            <a:ext cx="1114812" cy="88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353"/>
              </a:lnSpc>
              <a:spcBef>
                <a:spcPct val="0"/>
              </a:spcBef>
            </a:pPr>
            <a:r>
              <a:rPr lang="en-US" b="true" sz="5252">
                <a:solidFill>
                  <a:srgbClr val="4F8FD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55107" y="4165844"/>
            <a:ext cx="6098071" cy="2083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6"/>
              </a:lnSpc>
            </a:pPr>
            <a:r>
              <a:rPr lang="en-US" b="true" sz="3925">
                <a:solidFill>
                  <a:srgbClr val="4F8FD1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ARREGLOS UNIDIMENSIONALES</a:t>
            </a:r>
          </a:p>
          <a:p>
            <a:pPr algn="ctr" marL="0" indent="0" lvl="0">
              <a:lnSpc>
                <a:spcPts val="5496"/>
              </a:lnSpc>
              <a:spcBef>
                <a:spcPct val="0"/>
              </a:spcBef>
            </a:pPr>
            <a:r>
              <a:rPr lang="en-US" b="true" sz="3925">
                <a:solidFill>
                  <a:srgbClr val="4F8FD1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UTILIZADOS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727432" y="8358790"/>
            <a:ext cx="1381765" cy="1381765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8FD1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1">
                <a:lnSpc>
                  <a:spcPts val="9427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8860908" y="8568331"/>
            <a:ext cx="1114812" cy="88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353"/>
              </a:lnSpc>
              <a:spcBef>
                <a:spcPct val="0"/>
              </a:spcBef>
            </a:pPr>
            <a:r>
              <a:rPr lang="en-US" b="true" sz="5252">
                <a:solidFill>
                  <a:srgbClr val="4F8FD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</a:t>
            </a:r>
          </a:p>
        </p:txBody>
      </p:sp>
      <p:sp>
        <p:nvSpPr>
          <p:cNvPr name="AutoShape 47" id="47"/>
          <p:cNvSpPr/>
          <p:nvPr/>
        </p:nvSpPr>
        <p:spPr>
          <a:xfrm>
            <a:off x="6453177" y="5245610"/>
            <a:ext cx="2274255" cy="3804063"/>
          </a:xfrm>
          <a:prstGeom prst="line">
            <a:avLst/>
          </a:prstGeom>
          <a:ln cap="rnd" w="85725">
            <a:solidFill>
              <a:srgbClr val="4F8FD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48" id="48"/>
          <p:cNvSpPr txBox="true"/>
          <p:nvPr/>
        </p:nvSpPr>
        <p:spPr>
          <a:xfrm rot="0">
            <a:off x="10246248" y="1064161"/>
            <a:ext cx="6827978" cy="71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907"/>
              </a:lnSpc>
              <a:spcBef>
                <a:spcPct val="0"/>
              </a:spcBef>
            </a:pPr>
            <a:r>
              <a:rPr lang="en-US" sz="2076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Sirve para </a:t>
            </a:r>
            <a:r>
              <a:rPr lang="en-US" sz="2076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mostrar</a:t>
            </a:r>
            <a:r>
              <a:rPr lang="en-US" sz="2076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le al jugador las d</a:t>
            </a:r>
            <a:r>
              <a:rPr lang="en-US" sz="2076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irecciones</a:t>
            </a:r>
            <a:r>
              <a:rPr lang="en-US" sz="2076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 disponibles para moverse.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246248" y="2323743"/>
            <a:ext cx="4126531" cy="446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4"/>
              </a:lnSpc>
              <a:spcBef>
                <a:spcPct val="0"/>
              </a:spcBef>
            </a:pPr>
            <a:r>
              <a:rPr lang="en-US" b="true" sz="2596">
                <a:solidFill>
                  <a:srgbClr val="532CF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int[] posicion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246248" y="2768930"/>
            <a:ext cx="7030274" cy="35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907"/>
              </a:lnSpc>
              <a:spcBef>
                <a:spcPct val="0"/>
              </a:spcBef>
            </a:pPr>
            <a:r>
              <a:rPr lang="en-US" sz="2076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Se encuentra en </a:t>
            </a:r>
            <a:r>
              <a:rPr lang="en-US" b="true" sz="2076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encontrarEntrada(char[][] laberinto)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246248" y="3152264"/>
            <a:ext cx="6827978" cy="71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907"/>
              </a:lnSpc>
              <a:spcBef>
                <a:spcPct val="0"/>
              </a:spcBef>
            </a:pPr>
            <a:r>
              <a:rPr lang="en-US" sz="2076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Gua</a:t>
            </a:r>
            <a:r>
              <a:rPr lang="en-US" sz="2076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rda la p</a:t>
            </a:r>
            <a:r>
              <a:rPr lang="en-US" sz="2076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osición inicia</a:t>
            </a:r>
            <a:r>
              <a:rPr lang="en-US" sz="2076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l del jugador en el labe</a:t>
            </a:r>
            <a:r>
              <a:rPr lang="en-US" sz="2076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rinto</a:t>
            </a:r>
            <a:r>
              <a:rPr lang="en-US" sz="2076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 (fila y columna).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237778" y="4449086"/>
            <a:ext cx="4126531" cy="446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4"/>
              </a:lnSpc>
              <a:spcBef>
                <a:spcPct val="0"/>
              </a:spcBef>
            </a:pPr>
            <a:r>
              <a:rPr lang="en-US" b="true" sz="2596">
                <a:solidFill>
                  <a:srgbClr val="532CF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int[] posicionInicial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237778" y="4894273"/>
            <a:ext cx="7030274" cy="35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907"/>
              </a:lnSpc>
              <a:spcBef>
                <a:spcPct val="0"/>
              </a:spcBef>
            </a:pPr>
            <a:r>
              <a:rPr lang="en-US" sz="2076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Se encuentra en </a:t>
            </a:r>
            <a:r>
              <a:rPr lang="en-US" b="true" sz="2076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main(String[] args)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237778" y="5277607"/>
            <a:ext cx="6827978" cy="71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  <a:spcBef>
                <a:spcPct val="0"/>
              </a:spcBef>
            </a:pPr>
            <a:r>
              <a:rPr lang="en-US" sz="2076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Recibe y a</a:t>
            </a:r>
            <a:r>
              <a:rPr lang="en-US" sz="2076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lma</a:t>
            </a:r>
            <a:r>
              <a:rPr lang="en-US" sz="2076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cena</a:t>
            </a:r>
            <a:r>
              <a:rPr lang="en-US" sz="2076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 la coordenada [fila, columna] donde empieza el jugador.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46248" y="6363087"/>
            <a:ext cx="4126531" cy="446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4"/>
              </a:lnSpc>
              <a:spcBef>
                <a:spcPct val="0"/>
              </a:spcBef>
            </a:pPr>
            <a:r>
              <a:rPr lang="en-US" b="true" sz="2596">
                <a:solidFill>
                  <a:srgbClr val="532CF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int[] posicionActual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246248" y="6808274"/>
            <a:ext cx="7030274" cy="35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907"/>
              </a:lnSpc>
              <a:spcBef>
                <a:spcPct val="0"/>
              </a:spcBef>
            </a:pPr>
            <a:r>
              <a:rPr lang="en-US" sz="2076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Se encuentra </a:t>
            </a:r>
            <a:r>
              <a:rPr lang="en-US" b="true" sz="2076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dentro del ciclo del juego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46248" y="7191608"/>
            <a:ext cx="6827978" cy="71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  <a:spcBef>
                <a:spcPct val="0"/>
              </a:spcBef>
            </a:pPr>
            <a:r>
              <a:rPr lang="en-US" sz="2076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Guard</a:t>
            </a:r>
            <a:r>
              <a:rPr lang="en-US" sz="2076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a</a:t>
            </a:r>
            <a:r>
              <a:rPr lang="en-US" sz="2076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 la posición actual del jugador antes de calcular un movimiento.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246248" y="8152473"/>
            <a:ext cx="4126531" cy="446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4"/>
              </a:lnSpc>
              <a:spcBef>
                <a:spcPct val="0"/>
              </a:spcBef>
            </a:pPr>
            <a:r>
              <a:rPr lang="en-US" b="true" sz="2596">
                <a:solidFill>
                  <a:srgbClr val="532CF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int[] nuevaPosicion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246248" y="8597660"/>
            <a:ext cx="8041752" cy="71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907"/>
              </a:lnSpc>
              <a:spcBef>
                <a:spcPct val="0"/>
              </a:spcBef>
            </a:pPr>
            <a:r>
              <a:rPr lang="en-US" sz="2076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Se encuentra en </a:t>
            </a:r>
            <a:r>
              <a:rPr lang="en-US" b="true" sz="2076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int[] calcularNuevaPosicion(int[] posicionActual, String movimiento)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246248" y="9276885"/>
            <a:ext cx="6827978" cy="71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  <a:spcBef>
                <a:spcPct val="0"/>
              </a:spcBef>
            </a:pPr>
            <a:r>
              <a:rPr lang="en-US" sz="2076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Calcula y a</a:t>
            </a:r>
            <a:r>
              <a:rPr lang="en-US" sz="2076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lma</a:t>
            </a:r>
            <a:r>
              <a:rPr lang="en-US" sz="2076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cena</a:t>
            </a:r>
            <a:r>
              <a:rPr lang="en-US" sz="2076">
                <a:solidFill>
                  <a:srgbClr val="1D2943"/>
                </a:solidFill>
                <a:latin typeface="Noto Sans"/>
                <a:ea typeface="Noto Sans"/>
                <a:cs typeface="Noto Sans"/>
                <a:sym typeface="Noto Sans"/>
              </a:rPr>
              <a:t> la nueva posición del jugador según el comando W/A/S/D.</a:t>
            </a:r>
          </a:p>
        </p:txBody>
      </p:sp>
      <p:grpSp>
        <p:nvGrpSpPr>
          <p:cNvPr name="Group 61" id="61"/>
          <p:cNvGrpSpPr/>
          <p:nvPr/>
        </p:nvGrpSpPr>
        <p:grpSpPr>
          <a:xfrm rot="-1000647">
            <a:off x="-3055823" y="-3308049"/>
            <a:ext cx="8169046" cy="5355679"/>
            <a:chOff x="0" y="0"/>
            <a:chExt cx="1382892" cy="90663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82892" cy="906633"/>
            </a:xfrm>
            <a:custGeom>
              <a:avLst/>
              <a:gdLst/>
              <a:ahLst/>
              <a:cxnLst/>
              <a:rect r="r" b="b" t="t" l="l"/>
              <a:pathLst>
                <a:path h="906633" w="1382892">
                  <a:moveTo>
                    <a:pt x="691446" y="0"/>
                  </a:moveTo>
                  <a:cubicBezTo>
                    <a:pt x="309571" y="0"/>
                    <a:pt x="0" y="202957"/>
                    <a:pt x="0" y="453316"/>
                  </a:cubicBezTo>
                  <a:cubicBezTo>
                    <a:pt x="0" y="703676"/>
                    <a:pt x="309571" y="906633"/>
                    <a:pt x="691446" y="906633"/>
                  </a:cubicBezTo>
                  <a:cubicBezTo>
                    <a:pt x="1073321" y="906633"/>
                    <a:pt x="1382892" y="703676"/>
                    <a:pt x="1382892" y="453316"/>
                  </a:cubicBezTo>
                  <a:cubicBezTo>
                    <a:pt x="1382892" y="202957"/>
                    <a:pt x="1073321" y="0"/>
                    <a:pt x="691446" y="0"/>
                  </a:cubicBezTo>
                  <a:close/>
                </a:path>
              </a:pathLst>
            </a:custGeom>
            <a:solidFill>
              <a:srgbClr val="62A2E3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129646" y="37372"/>
              <a:ext cx="1123600" cy="784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2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382261">
            <a:off x="-950929" y="1013197"/>
            <a:ext cx="10665900" cy="8260606"/>
          </a:xfrm>
          <a:custGeom>
            <a:avLst/>
            <a:gdLst/>
            <a:ahLst/>
            <a:cxnLst/>
            <a:rect r="r" b="b" t="t" l="l"/>
            <a:pathLst>
              <a:path h="8260606" w="10665900">
                <a:moveTo>
                  <a:pt x="0" y="0"/>
                </a:moveTo>
                <a:lnTo>
                  <a:pt x="10665901" y="0"/>
                </a:lnTo>
                <a:lnTo>
                  <a:pt x="10665901" y="8260606"/>
                </a:lnTo>
                <a:lnTo>
                  <a:pt x="0" y="8260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2382261">
            <a:off x="10575229" y="1013197"/>
            <a:ext cx="10665900" cy="8260606"/>
          </a:xfrm>
          <a:custGeom>
            <a:avLst/>
            <a:gdLst/>
            <a:ahLst/>
            <a:cxnLst/>
            <a:rect r="r" b="b" t="t" l="l"/>
            <a:pathLst>
              <a:path h="8260606" w="10665900">
                <a:moveTo>
                  <a:pt x="0" y="0"/>
                </a:moveTo>
                <a:lnTo>
                  <a:pt x="10665900" y="0"/>
                </a:lnTo>
                <a:lnTo>
                  <a:pt x="10665900" y="8260606"/>
                </a:lnTo>
                <a:lnTo>
                  <a:pt x="0" y="8260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958835" y="3841170"/>
            <a:ext cx="2581254" cy="2604661"/>
            <a:chOff x="0" y="0"/>
            <a:chExt cx="812800" cy="8201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891839" y="2884030"/>
            <a:ext cx="2581254" cy="2604661"/>
            <a:chOff x="0" y="0"/>
            <a:chExt cx="812800" cy="8201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73994" y="3460736"/>
            <a:ext cx="2581254" cy="2604661"/>
            <a:chOff x="0" y="0"/>
            <a:chExt cx="812800" cy="8201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1732540" y="-2377986"/>
            <a:ext cx="4769843" cy="4813095"/>
            <a:chOff x="0" y="0"/>
            <a:chExt cx="812800" cy="8201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FD1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1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411633" y="8520448"/>
            <a:ext cx="4769843" cy="4813095"/>
            <a:chOff x="0" y="0"/>
            <a:chExt cx="812800" cy="8201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652506" y="352672"/>
            <a:ext cx="437231" cy="441196"/>
            <a:chOff x="0" y="0"/>
            <a:chExt cx="812800" cy="8201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45556" y="8520448"/>
            <a:ext cx="991649" cy="1000641"/>
            <a:chOff x="0" y="0"/>
            <a:chExt cx="812800" cy="8201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6135112" y="1015317"/>
            <a:ext cx="1126451" cy="1089841"/>
          </a:xfrm>
          <a:custGeom>
            <a:avLst/>
            <a:gdLst/>
            <a:ahLst/>
            <a:cxnLst/>
            <a:rect r="r" b="b" t="t" l="l"/>
            <a:pathLst>
              <a:path h="1089841" w="1126451">
                <a:moveTo>
                  <a:pt x="0" y="0"/>
                </a:moveTo>
                <a:lnTo>
                  <a:pt x="1126451" y="0"/>
                </a:lnTo>
                <a:lnTo>
                  <a:pt x="1126451" y="1089841"/>
                </a:lnTo>
                <a:lnTo>
                  <a:pt x="0" y="1089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484786" y="1505935"/>
            <a:ext cx="11363872" cy="106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FUNCIONES PREDEFINIDAS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7723" y="6553767"/>
            <a:ext cx="5800098" cy="1847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696"/>
              </a:lnSpc>
              <a:spcBef>
                <a:spcPct val="0"/>
              </a:spcBef>
            </a:pPr>
            <a:r>
              <a:rPr lang="en-US" sz="264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</a:t>
            </a:r>
            <a:r>
              <a:rPr lang="en-US" sz="2640" strike="noStrike" u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onvierte el nombre del jugador y los movimientos a mayúsculas para evitar errores por diferencias entre mayúsculas/minúsculas.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39283" y="4890298"/>
            <a:ext cx="2620357" cy="45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856"/>
              </a:lnSpc>
              <a:spcBef>
                <a:spcPct val="0"/>
              </a:spcBef>
            </a:pPr>
            <a:r>
              <a:rPr lang="en-US" b="true" sz="2754">
                <a:solidFill>
                  <a:srgbClr val="1D29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toUpperCase()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34891" y="4437859"/>
            <a:ext cx="2620357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D29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trim()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645021" y="6398205"/>
            <a:ext cx="5800098" cy="1380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  <a:spcBef>
                <a:spcPct val="0"/>
              </a:spcBef>
            </a:pPr>
            <a:r>
              <a:rPr lang="en-US" sz="264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Elimina espaci</a:t>
            </a:r>
            <a:r>
              <a:rPr lang="en-US" sz="2640" strike="noStrike" u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os al inicio y al final del nombre o comando ingresado, evitando errores de validación.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852736" y="3896747"/>
            <a:ext cx="2620357" cy="45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856"/>
              </a:lnSpc>
              <a:spcBef>
                <a:spcPct val="0"/>
              </a:spcBef>
            </a:pPr>
            <a:r>
              <a:rPr lang="en-US" b="true" sz="2754">
                <a:solidFill>
                  <a:srgbClr val="1D29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isEmpty()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75895" y="6128065"/>
            <a:ext cx="4613142" cy="1380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  <a:spcBef>
                <a:spcPct val="0"/>
              </a:spcBef>
            </a:pPr>
            <a:r>
              <a:rPr lang="en-US" sz="264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Verifica si</a:t>
            </a:r>
            <a:r>
              <a:rPr lang="en-US" sz="2640" strike="noStrike" u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el usuario no escribió nada al ingresar su nombre o movimiento.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2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382261">
            <a:off x="946625" y="1020190"/>
            <a:ext cx="11379149" cy="8813008"/>
          </a:xfrm>
          <a:custGeom>
            <a:avLst/>
            <a:gdLst/>
            <a:ahLst/>
            <a:cxnLst/>
            <a:rect r="r" b="b" t="t" l="l"/>
            <a:pathLst>
              <a:path h="8813008" w="11379149">
                <a:moveTo>
                  <a:pt x="0" y="0"/>
                </a:moveTo>
                <a:lnTo>
                  <a:pt x="11379149" y="0"/>
                </a:lnTo>
                <a:lnTo>
                  <a:pt x="11379149" y="8813008"/>
                </a:lnTo>
                <a:lnTo>
                  <a:pt x="0" y="8813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2382261">
            <a:off x="13377627" y="1281066"/>
            <a:ext cx="10665900" cy="8260606"/>
          </a:xfrm>
          <a:custGeom>
            <a:avLst/>
            <a:gdLst/>
            <a:ahLst/>
            <a:cxnLst/>
            <a:rect r="r" b="b" t="t" l="l"/>
            <a:pathLst>
              <a:path h="8260606" w="10665900">
                <a:moveTo>
                  <a:pt x="0" y="0"/>
                </a:moveTo>
                <a:lnTo>
                  <a:pt x="10665901" y="0"/>
                </a:lnTo>
                <a:lnTo>
                  <a:pt x="10665901" y="8260606"/>
                </a:lnTo>
                <a:lnTo>
                  <a:pt x="0" y="8260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4537142" y="3728605"/>
            <a:ext cx="2581254" cy="2604661"/>
            <a:chOff x="0" y="0"/>
            <a:chExt cx="812800" cy="8201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587778" y="3728605"/>
            <a:ext cx="2581254" cy="2604661"/>
            <a:chOff x="0" y="0"/>
            <a:chExt cx="812800" cy="8201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732540" y="-2377986"/>
            <a:ext cx="4769843" cy="4813095"/>
            <a:chOff x="0" y="0"/>
            <a:chExt cx="812800" cy="8201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FD1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1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411633" y="8520448"/>
            <a:ext cx="4769843" cy="4813095"/>
            <a:chOff x="0" y="0"/>
            <a:chExt cx="812800" cy="8201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652506" y="352672"/>
            <a:ext cx="437231" cy="441196"/>
            <a:chOff x="0" y="0"/>
            <a:chExt cx="812800" cy="8201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45556" y="8520448"/>
            <a:ext cx="991649" cy="1000641"/>
            <a:chOff x="0" y="0"/>
            <a:chExt cx="812800" cy="8201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6135112" y="1015317"/>
            <a:ext cx="1126451" cy="1089841"/>
          </a:xfrm>
          <a:custGeom>
            <a:avLst/>
            <a:gdLst/>
            <a:ahLst/>
            <a:cxnLst/>
            <a:rect r="r" b="b" t="t" l="l"/>
            <a:pathLst>
              <a:path h="1089841" w="1126451">
                <a:moveTo>
                  <a:pt x="0" y="0"/>
                </a:moveTo>
                <a:lnTo>
                  <a:pt x="1126451" y="0"/>
                </a:lnTo>
                <a:lnTo>
                  <a:pt x="1126451" y="1089841"/>
                </a:lnTo>
                <a:lnTo>
                  <a:pt x="0" y="1089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484786" y="1505935"/>
            <a:ext cx="11363872" cy="106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FUNCIONES PREDEFINIDAS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037303" y="6426105"/>
            <a:ext cx="5580933" cy="1847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696"/>
              </a:lnSpc>
              <a:spcBef>
                <a:spcPct val="0"/>
              </a:spcBef>
            </a:pPr>
            <a:r>
              <a:rPr lang="en-US" sz="264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Ext</a:t>
            </a:r>
            <a:r>
              <a:rPr lang="en-US" sz="2640" strike="noStrike" u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rae un carácter individual del movimiento o del laberinto para validar comandos y cargar paredes, entrada y salida.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517591" y="4777733"/>
            <a:ext cx="2620357" cy="45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856"/>
              </a:lnSpc>
              <a:spcBef>
                <a:spcPct val="0"/>
              </a:spcBef>
            </a:pPr>
            <a:r>
              <a:rPr lang="en-US" b="true" sz="2754">
                <a:solidFill>
                  <a:srgbClr val="1D29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charA</a:t>
            </a:r>
            <a:r>
              <a:rPr lang="en-US" b="true" sz="2754">
                <a:solidFill>
                  <a:srgbClr val="1D29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t()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587778" y="4768208"/>
            <a:ext cx="262035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D29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isLetter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58805" y="6666074"/>
            <a:ext cx="5800098" cy="91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  <a:spcBef>
                <a:spcPct val="0"/>
              </a:spcBef>
            </a:pPr>
            <a:r>
              <a:rPr lang="en-US" sz="264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</a:t>
            </a:r>
            <a:r>
              <a:rPr lang="en-US" sz="264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</a:t>
            </a:r>
            <a:r>
              <a:rPr lang="en-US" sz="2640" strike="noStrike" u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termina si el carácter dado (o especificado) es una letra o no.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2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66932" y="6711047"/>
            <a:ext cx="2211562" cy="2231616"/>
            <a:chOff x="0" y="0"/>
            <a:chExt cx="812800" cy="820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732540" y="-2377986"/>
            <a:ext cx="4769843" cy="4813095"/>
            <a:chOff x="0" y="0"/>
            <a:chExt cx="812800" cy="8201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FD1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1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549721" y="7650720"/>
            <a:ext cx="5631756" cy="5682823"/>
            <a:chOff x="0" y="0"/>
            <a:chExt cx="812800" cy="8201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652506" y="352672"/>
            <a:ext cx="437231" cy="441196"/>
            <a:chOff x="0" y="0"/>
            <a:chExt cx="812800" cy="8201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173773" y="8126814"/>
            <a:ext cx="6553663" cy="6613090"/>
            <a:chOff x="0" y="0"/>
            <a:chExt cx="812800" cy="8201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6135112" y="1015317"/>
            <a:ext cx="1126451" cy="1089841"/>
          </a:xfrm>
          <a:custGeom>
            <a:avLst/>
            <a:gdLst/>
            <a:ahLst/>
            <a:cxnLst/>
            <a:rect r="r" b="b" t="t" l="l"/>
            <a:pathLst>
              <a:path h="1089841" w="1126451">
                <a:moveTo>
                  <a:pt x="0" y="0"/>
                </a:moveTo>
                <a:lnTo>
                  <a:pt x="1126451" y="0"/>
                </a:lnTo>
                <a:lnTo>
                  <a:pt x="1126451" y="1089841"/>
                </a:lnTo>
                <a:lnTo>
                  <a:pt x="0" y="10898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366932" y="2914764"/>
            <a:ext cx="2211562" cy="2231616"/>
            <a:chOff x="0" y="0"/>
            <a:chExt cx="812800" cy="8201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754951" y="2914764"/>
            <a:ext cx="2211562" cy="2231616"/>
            <a:chOff x="0" y="0"/>
            <a:chExt cx="812800" cy="8201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754951" y="6711047"/>
            <a:ext cx="2211562" cy="2231616"/>
            <a:chOff x="0" y="0"/>
            <a:chExt cx="812800" cy="82017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4825936" y="4543291"/>
            <a:ext cx="3077184" cy="4977798"/>
          </a:xfrm>
          <a:custGeom>
            <a:avLst/>
            <a:gdLst/>
            <a:ahLst/>
            <a:cxnLst/>
            <a:rect r="r" b="b" t="t" l="l"/>
            <a:pathLst>
              <a:path h="4977798" w="3077184">
                <a:moveTo>
                  <a:pt x="0" y="0"/>
                </a:moveTo>
                <a:lnTo>
                  <a:pt x="3077184" y="0"/>
                </a:lnTo>
                <a:lnTo>
                  <a:pt x="3077184" y="4977798"/>
                </a:lnTo>
                <a:lnTo>
                  <a:pt x="0" y="49777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09963" y="6066548"/>
            <a:ext cx="3386189" cy="3520613"/>
          </a:xfrm>
          <a:custGeom>
            <a:avLst/>
            <a:gdLst/>
            <a:ahLst/>
            <a:cxnLst/>
            <a:rect r="r" b="b" t="t" l="l"/>
            <a:pathLst>
              <a:path h="3520613" w="3386189">
                <a:moveTo>
                  <a:pt x="0" y="0"/>
                </a:moveTo>
                <a:lnTo>
                  <a:pt x="3386190" y="0"/>
                </a:lnTo>
                <a:lnTo>
                  <a:pt x="3386190" y="3520613"/>
                </a:lnTo>
                <a:lnTo>
                  <a:pt x="0" y="35206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462064" y="822443"/>
            <a:ext cx="11363872" cy="176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</a:pPr>
            <a:r>
              <a:rPr lang="en-US" b="true" sz="6000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FUNCIONES PREDEFINIDAS DE ARCHIVO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081903" y="9024909"/>
            <a:ext cx="4781620" cy="780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166"/>
              </a:lnSpc>
              <a:spcBef>
                <a:spcPct val="0"/>
              </a:spcBef>
            </a:pPr>
            <a:r>
              <a:rPr lang="en-US" sz="226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Si</a:t>
            </a:r>
            <a:r>
              <a:rPr lang="en-US" sz="2261" strike="noStrike" u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rve para leer el archivo de texto del laberinto línea por línea.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350181" y="7603095"/>
            <a:ext cx="2245064" cy="39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304"/>
              </a:lnSpc>
              <a:spcBef>
                <a:spcPct val="0"/>
              </a:spcBef>
            </a:pPr>
            <a:r>
              <a:rPr lang="en-US" b="true" sz="2360">
                <a:solidFill>
                  <a:srgbClr val="1D29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FileReader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081903" y="5228626"/>
            <a:ext cx="4781620" cy="118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166"/>
              </a:lnSpc>
              <a:spcBef>
                <a:spcPct val="0"/>
              </a:spcBef>
            </a:pPr>
            <a:r>
              <a:rPr lang="en-US" sz="226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Si</a:t>
            </a:r>
            <a:r>
              <a:rPr lang="en-US" sz="2261" strike="noStrike" u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rve para leer texto de manera eficiente, detectar filas/columnas y cargar los caracteres del laberinto.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283678" y="3806813"/>
            <a:ext cx="2378069" cy="39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304"/>
              </a:lnSpc>
              <a:spcBef>
                <a:spcPct val="0"/>
              </a:spcBef>
            </a:pPr>
            <a:r>
              <a:rPr lang="en-US" b="true" sz="2360">
                <a:solidFill>
                  <a:srgbClr val="1D29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BufferedReader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69922" y="5228626"/>
            <a:ext cx="4781620" cy="1180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166"/>
              </a:lnSpc>
              <a:spcBef>
                <a:spcPct val="0"/>
              </a:spcBef>
            </a:pPr>
            <a:r>
              <a:rPr lang="en-US" sz="226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Si</a:t>
            </a:r>
            <a:r>
              <a:rPr lang="en-US" sz="2261" strike="noStrike" u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rve para crear o abrir el archivo </a:t>
            </a:r>
            <a:r>
              <a:rPr lang="en-US" b="true" sz="2261" strike="noStrike" u="non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laberinto_historial.txt </a:t>
            </a:r>
            <a:r>
              <a:rPr lang="en-US" sz="2261" strike="noStrike" u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para escribir el resultado de la partida.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671697" y="3806813"/>
            <a:ext cx="2378069" cy="39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304"/>
              </a:lnSpc>
              <a:spcBef>
                <a:spcPct val="0"/>
              </a:spcBef>
            </a:pPr>
            <a:r>
              <a:rPr lang="en-US" b="true" sz="2360">
                <a:solidFill>
                  <a:srgbClr val="1D29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FileWriter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69922" y="9024909"/>
            <a:ext cx="4781620" cy="780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166"/>
              </a:lnSpc>
              <a:spcBef>
                <a:spcPct val="0"/>
              </a:spcBef>
            </a:pPr>
            <a:r>
              <a:rPr lang="en-US" sz="226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Si</a:t>
            </a:r>
            <a:r>
              <a:rPr lang="en-US" sz="2261" strike="noStrike" u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rve para escribir texto fácilmente dentro del archivo historial.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738200" y="7603095"/>
            <a:ext cx="2245064" cy="39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304"/>
              </a:lnSpc>
              <a:spcBef>
                <a:spcPct val="0"/>
              </a:spcBef>
            </a:pPr>
            <a:r>
              <a:rPr lang="en-US" b="true" sz="2360">
                <a:solidFill>
                  <a:srgbClr val="1D29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PrintWriter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2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90300" y="-3801276"/>
            <a:ext cx="16449947" cy="16449947"/>
          </a:xfrm>
          <a:custGeom>
            <a:avLst/>
            <a:gdLst/>
            <a:ahLst/>
            <a:cxnLst/>
            <a:rect r="r" b="b" t="t" l="l"/>
            <a:pathLst>
              <a:path h="16449947" w="16449947">
                <a:moveTo>
                  <a:pt x="0" y="0"/>
                </a:moveTo>
                <a:lnTo>
                  <a:pt x="16449947" y="0"/>
                </a:lnTo>
                <a:lnTo>
                  <a:pt x="16449947" y="16449946"/>
                </a:lnTo>
                <a:lnTo>
                  <a:pt x="0" y="16449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95870" y="8408818"/>
            <a:ext cx="1698963" cy="169896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548863" y="8777947"/>
            <a:ext cx="992977" cy="960706"/>
          </a:xfrm>
          <a:custGeom>
            <a:avLst/>
            <a:gdLst/>
            <a:ahLst/>
            <a:cxnLst/>
            <a:rect r="r" b="b" t="t" l="l"/>
            <a:pathLst>
              <a:path h="960706" w="992977">
                <a:moveTo>
                  <a:pt x="0" y="0"/>
                </a:moveTo>
                <a:lnTo>
                  <a:pt x="992977" y="0"/>
                </a:lnTo>
                <a:lnTo>
                  <a:pt x="992977" y="960706"/>
                </a:lnTo>
                <a:lnTo>
                  <a:pt x="0" y="960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785183" y="1826154"/>
          <a:ext cx="14888584" cy="7912499"/>
        </p:xfrm>
        <a:graphic>
          <a:graphicData uri="http://schemas.openxmlformats.org/drawingml/2006/table">
            <a:tbl>
              <a:tblPr/>
              <a:tblGrid>
                <a:gridCol w="6716606"/>
                <a:gridCol w="8171978"/>
              </a:tblGrid>
              <a:tr h="10218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b="true" sz="2699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METODO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b="true" sz="2699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EXPLICACIÓN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  <a:tr h="17226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menu()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Muestra el menú principal con las opciones de jugar o salir.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7226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mostrarDirecciones()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Imprime en pantalla las direcciones permitidas (W, A, S, D).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7226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cargarLaberinto(String archivo)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Lee el archivo .txt y construye la matriz char[][] que representa el laberinto.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7226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mostrarLaberinto(char[][], int, int)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Dibuja el laberinto con el jugador representado con la letra P.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215300" y="594246"/>
            <a:ext cx="10414155" cy="89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</a:pPr>
            <a:r>
              <a:rPr lang="en-US" b="true" sz="6000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METODOS PROPIOS PT.1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2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90300" y="-3801276"/>
            <a:ext cx="16449947" cy="16449947"/>
          </a:xfrm>
          <a:custGeom>
            <a:avLst/>
            <a:gdLst/>
            <a:ahLst/>
            <a:cxnLst/>
            <a:rect r="r" b="b" t="t" l="l"/>
            <a:pathLst>
              <a:path h="16449947" w="16449947">
                <a:moveTo>
                  <a:pt x="0" y="0"/>
                </a:moveTo>
                <a:lnTo>
                  <a:pt x="16449947" y="0"/>
                </a:lnTo>
                <a:lnTo>
                  <a:pt x="16449947" y="16449946"/>
                </a:lnTo>
                <a:lnTo>
                  <a:pt x="0" y="16449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95870" y="8408818"/>
            <a:ext cx="1698963" cy="169896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548863" y="8777947"/>
            <a:ext cx="992977" cy="960706"/>
          </a:xfrm>
          <a:custGeom>
            <a:avLst/>
            <a:gdLst/>
            <a:ahLst/>
            <a:cxnLst/>
            <a:rect r="r" b="b" t="t" l="l"/>
            <a:pathLst>
              <a:path h="960706" w="992977">
                <a:moveTo>
                  <a:pt x="0" y="0"/>
                </a:moveTo>
                <a:lnTo>
                  <a:pt x="992977" y="0"/>
                </a:lnTo>
                <a:lnTo>
                  <a:pt x="992977" y="960706"/>
                </a:lnTo>
                <a:lnTo>
                  <a:pt x="0" y="960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785183" y="1826154"/>
          <a:ext cx="14888584" cy="7912499"/>
        </p:xfrm>
        <a:graphic>
          <a:graphicData uri="http://schemas.openxmlformats.org/drawingml/2006/table">
            <a:tbl>
              <a:tblPr/>
              <a:tblGrid>
                <a:gridCol w="6716606"/>
                <a:gridCol w="8171978"/>
              </a:tblGrid>
              <a:tr h="10218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b="true" sz="2699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METODO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b="true" sz="2699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EXPLICACIÓN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  <a:tr h="17226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encontrarEntrada(char[][])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Busca la E en el laberinto y regresa un int[] con su posición [fila, columna].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7226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calcularNuevaPosicion(int[] posicionActual, String movimiento)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Calcula y devuelve un nuevo arreglo int[] con la posición después del movimiento.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7226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estaSalida(char[][], int, int)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Regresa true si el jugador llegó a la S, la salida del laberinto.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7226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validarNombre(String)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Valida que el nombre tenga solo letras, no esté vacío y tenga mínimo 2 caracteres.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215300" y="594246"/>
            <a:ext cx="10414155" cy="89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</a:pPr>
            <a:r>
              <a:rPr lang="en-US" b="true" sz="6000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METODOS PROPIOS PT.2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2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90300" y="-3801276"/>
            <a:ext cx="16449947" cy="16449947"/>
          </a:xfrm>
          <a:custGeom>
            <a:avLst/>
            <a:gdLst/>
            <a:ahLst/>
            <a:cxnLst/>
            <a:rect r="r" b="b" t="t" l="l"/>
            <a:pathLst>
              <a:path h="16449947" w="16449947">
                <a:moveTo>
                  <a:pt x="0" y="0"/>
                </a:moveTo>
                <a:lnTo>
                  <a:pt x="16449947" y="0"/>
                </a:lnTo>
                <a:lnTo>
                  <a:pt x="16449947" y="16449946"/>
                </a:lnTo>
                <a:lnTo>
                  <a:pt x="0" y="16449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95870" y="8408818"/>
            <a:ext cx="1698963" cy="169896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548863" y="8777947"/>
            <a:ext cx="992977" cy="960706"/>
          </a:xfrm>
          <a:custGeom>
            <a:avLst/>
            <a:gdLst/>
            <a:ahLst/>
            <a:cxnLst/>
            <a:rect r="r" b="b" t="t" l="l"/>
            <a:pathLst>
              <a:path h="960706" w="992977">
                <a:moveTo>
                  <a:pt x="0" y="0"/>
                </a:moveTo>
                <a:lnTo>
                  <a:pt x="992977" y="0"/>
                </a:lnTo>
                <a:lnTo>
                  <a:pt x="992977" y="960706"/>
                </a:lnTo>
                <a:lnTo>
                  <a:pt x="0" y="960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785183" y="1826154"/>
          <a:ext cx="14888584" cy="7912499"/>
        </p:xfrm>
        <a:graphic>
          <a:graphicData uri="http://schemas.openxmlformats.org/drawingml/2006/table">
            <a:tbl>
              <a:tblPr/>
              <a:tblGrid>
                <a:gridCol w="6716606"/>
                <a:gridCol w="8171978"/>
              </a:tblGrid>
              <a:tr h="10218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b="true" sz="2699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METODO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b="true" sz="2699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EXPLICACIÓN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  <a:tr h="17226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validarOpcionMenu(int, int, int)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Valida que el número capturado esté dentro de las opciones del menú.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7226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validarMovimiento(String)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Valida que el usuario ingrese solo W, A, S o D.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7226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validarCoordenadas(int fila, int columna, char[][])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Evita que el jugador salga de los límites de la matriz.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7226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validarNoMuro(int fila, int columna, char[][])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Impide que el jugador atraviese muros #.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215300" y="594246"/>
            <a:ext cx="10414155" cy="89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</a:pPr>
            <a:r>
              <a:rPr lang="en-US" b="true" sz="6000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METODOS PROPIOS PT.3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2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90300" y="-3801276"/>
            <a:ext cx="16449947" cy="16449947"/>
          </a:xfrm>
          <a:custGeom>
            <a:avLst/>
            <a:gdLst/>
            <a:ahLst/>
            <a:cxnLst/>
            <a:rect r="r" b="b" t="t" l="l"/>
            <a:pathLst>
              <a:path h="16449947" w="16449947">
                <a:moveTo>
                  <a:pt x="0" y="0"/>
                </a:moveTo>
                <a:lnTo>
                  <a:pt x="16449947" y="0"/>
                </a:lnTo>
                <a:lnTo>
                  <a:pt x="16449947" y="16449946"/>
                </a:lnTo>
                <a:lnTo>
                  <a:pt x="0" y="16449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95870" y="8408818"/>
            <a:ext cx="1698963" cy="169896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548863" y="8777947"/>
            <a:ext cx="992977" cy="960706"/>
          </a:xfrm>
          <a:custGeom>
            <a:avLst/>
            <a:gdLst/>
            <a:ahLst/>
            <a:cxnLst/>
            <a:rect r="r" b="b" t="t" l="l"/>
            <a:pathLst>
              <a:path h="960706" w="992977">
                <a:moveTo>
                  <a:pt x="0" y="0"/>
                </a:moveTo>
                <a:lnTo>
                  <a:pt x="992977" y="0"/>
                </a:lnTo>
                <a:lnTo>
                  <a:pt x="992977" y="960706"/>
                </a:lnTo>
                <a:lnTo>
                  <a:pt x="0" y="960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785183" y="1826154"/>
          <a:ext cx="14888584" cy="7912499"/>
        </p:xfrm>
        <a:graphic>
          <a:graphicData uri="http://schemas.openxmlformats.org/drawingml/2006/table">
            <a:tbl>
              <a:tblPr/>
              <a:tblGrid>
                <a:gridCol w="6716606"/>
                <a:gridCol w="8171978"/>
              </a:tblGrid>
              <a:tr h="10218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b="true" sz="2699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METODO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b="true" sz="2699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EXPLICACIÓN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  <a:tr h="17226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validarMovimientoPosible(int, int, char[][])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Combina todas las validaciones para asegurar que un movimiento es válido.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7226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validarLaberinto(char[][])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Verifica que el laberinto tenga E, S y sea válido para jugar.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7226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validarArchivoExiste(String)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Comprueba que el archivo del laberinto exista antes de leerlo.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7226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guardarResultado(String, int, boolean, String)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40505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Guarda nombre, movimientos y si llegó a la salida en un archivo .txt.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215300" y="594246"/>
            <a:ext cx="10414155" cy="89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</a:pPr>
            <a:r>
              <a:rPr lang="en-US" b="true" sz="6000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METODOS PROPIOS PT.4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2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70094" y="-1367377"/>
            <a:ext cx="5147295" cy="5193970"/>
            <a:chOff x="0" y="0"/>
            <a:chExt cx="812800" cy="820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443952"/>
            <a:ext cx="7215376" cy="8917129"/>
            <a:chOff x="0" y="0"/>
            <a:chExt cx="1727724" cy="21352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0010" y="80010"/>
              <a:ext cx="1635014" cy="2042499"/>
            </a:xfrm>
            <a:custGeom>
              <a:avLst/>
              <a:gdLst/>
              <a:ahLst/>
              <a:cxnLst/>
              <a:rect r="r" b="b" t="t" l="l"/>
              <a:pathLst>
                <a:path h="2042499" w="1635014">
                  <a:moveTo>
                    <a:pt x="0" y="1987889"/>
                  </a:moveTo>
                  <a:lnTo>
                    <a:pt x="0" y="2042499"/>
                  </a:lnTo>
                  <a:lnTo>
                    <a:pt x="1635014" y="2042499"/>
                  </a:lnTo>
                  <a:lnTo>
                    <a:pt x="1635014" y="0"/>
                  </a:lnTo>
                  <a:lnTo>
                    <a:pt x="1580404" y="0"/>
                  </a:lnTo>
                  <a:lnTo>
                    <a:pt x="1580404" y="1987889"/>
                  </a:ln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7310" y="67310"/>
              <a:ext cx="1660414" cy="2067899"/>
            </a:xfrm>
            <a:custGeom>
              <a:avLst/>
              <a:gdLst/>
              <a:ahLst/>
              <a:cxnLst/>
              <a:rect r="r" b="b" t="t" l="l"/>
              <a:pathLst>
                <a:path h="2067899" w="1660414">
                  <a:moveTo>
                    <a:pt x="1593104" y="0"/>
                  </a:moveTo>
                  <a:lnTo>
                    <a:pt x="1593104" y="12700"/>
                  </a:lnTo>
                  <a:lnTo>
                    <a:pt x="1647714" y="12700"/>
                  </a:lnTo>
                  <a:lnTo>
                    <a:pt x="1647714" y="2055199"/>
                  </a:lnTo>
                  <a:lnTo>
                    <a:pt x="12700" y="2055199"/>
                  </a:lnTo>
                  <a:lnTo>
                    <a:pt x="12700" y="2000589"/>
                  </a:lnTo>
                  <a:lnTo>
                    <a:pt x="0" y="2000589"/>
                  </a:lnTo>
                  <a:lnTo>
                    <a:pt x="0" y="2067899"/>
                  </a:lnTo>
                  <a:lnTo>
                    <a:pt x="1660414" y="2067899"/>
                  </a:lnTo>
                  <a:lnTo>
                    <a:pt x="1660414" y="0"/>
                  </a:ln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1635014" cy="2042499"/>
            </a:xfrm>
            <a:custGeom>
              <a:avLst/>
              <a:gdLst/>
              <a:ahLst/>
              <a:cxnLst/>
              <a:rect r="r" b="b" t="t" l="l"/>
              <a:pathLst>
                <a:path h="2042499" w="1635014">
                  <a:moveTo>
                    <a:pt x="0" y="0"/>
                  </a:moveTo>
                  <a:lnTo>
                    <a:pt x="1635014" y="0"/>
                  </a:lnTo>
                  <a:lnTo>
                    <a:pt x="1635014" y="2042499"/>
                  </a:lnTo>
                  <a:lnTo>
                    <a:pt x="0" y="204249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60414" cy="2067899"/>
            </a:xfrm>
            <a:custGeom>
              <a:avLst/>
              <a:gdLst/>
              <a:ahLst/>
              <a:cxnLst/>
              <a:rect r="r" b="b" t="t" l="l"/>
              <a:pathLst>
                <a:path h="2067899" w="1660414">
                  <a:moveTo>
                    <a:pt x="80010" y="2067899"/>
                  </a:moveTo>
                  <a:lnTo>
                    <a:pt x="1660414" y="2067899"/>
                  </a:lnTo>
                  <a:lnTo>
                    <a:pt x="1660414" y="80010"/>
                  </a:lnTo>
                  <a:lnTo>
                    <a:pt x="1660414" y="67310"/>
                  </a:lnTo>
                  <a:lnTo>
                    <a:pt x="1660414" y="0"/>
                  </a:lnTo>
                  <a:lnTo>
                    <a:pt x="0" y="0"/>
                  </a:lnTo>
                  <a:lnTo>
                    <a:pt x="0" y="2067899"/>
                  </a:lnTo>
                  <a:lnTo>
                    <a:pt x="67310" y="2067899"/>
                  </a:lnTo>
                  <a:lnTo>
                    <a:pt x="80010" y="2067899"/>
                  </a:lnTo>
                  <a:close/>
                  <a:moveTo>
                    <a:pt x="12700" y="12700"/>
                  </a:moveTo>
                  <a:lnTo>
                    <a:pt x="1647714" y="12700"/>
                  </a:lnTo>
                  <a:lnTo>
                    <a:pt x="1647714" y="2055199"/>
                  </a:lnTo>
                  <a:lnTo>
                    <a:pt x="12700" y="2055199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4F8FD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1382898" y="9251042"/>
            <a:ext cx="2765795" cy="2790875"/>
            <a:chOff x="0" y="0"/>
            <a:chExt cx="812800" cy="8201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696075" y="8816160"/>
            <a:ext cx="1126451" cy="1089841"/>
          </a:xfrm>
          <a:custGeom>
            <a:avLst/>
            <a:gdLst/>
            <a:ahLst/>
            <a:cxnLst/>
            <a:rect r="r" b="b" t="t" l="l"/>
            <a:pathLst>
              <a:path h="1089841" w="1126451">
                <a:moveTo>
                  <a:pt x="0" y="0"/>
                </a:moveTo>
                <a:lnTo>
                  <a:pt x="1126450" y="0"/>
                </a:lnTo>
                <a:lnTo>
                  <a:pt x="1126450" y="1089842"/>
                </a:lnTo>
                <a:lnTo>
                  <a:pt x="0" y="1089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040118" y="1020365"/>
            <a:ext cx="5034354" cy="5130489"/>
          </a:xfrm>
          <a:custGeom>
            <a:avLst/>
            <a:gdLst/>
            <a:ahLst/>
            <a:cxnLst/>
            <a:rect r="r" b="b" t="t" l="l"/>
            <a:pathLst>
              <a:path h="5130489" w="5034354">
                <a:moveTo>
                  <a:pt x="0" y="0"/>
                </a:moveTo>
                <a:lnTo>
                  <a:pt x="5034354" y="0"/>
                </a:lnTo>
                <a:lnTo>
                  <a:pt x="5034354" y="5130489"/>
                </a:lnTo>
                <a:lnTo>
                  <a:pt x="0" y="51304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362" r="-85947" b="-12139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92813" y="1095375"/>
            <a:ext cx="6579867" cy="1514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82"/>
              </a:lnSpc>
            </a:pPr>
            <a:r>
              <a:rPr lang="en-US" b="true" sz="5455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ARCHIVO DE ENTRADA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10684" y="6448918"/>
            <a:ext cx="6093223" cy="615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067"/>
              </a:lnSpc>
              <a:spcBef>
                <a:spcPct val="0"/>
              </a:spcBef>
            </a:pPr>
            <a:r>
              <a:rPr lang="en-US" b="true" sz="3619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Laberinto1.txt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10684" y="7276764"/>
            <a:ext cx="6093223" cy="1298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Contiene el</a:t>
            </a:r>
            <a:r>
              <a:rPr lang="en-US" b="true" sz="2499" strike="noStrike" u="none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mapa del laberinto en texto plano. Cada línea representa una fila de la matriz.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6579" y="2924013"/>
            <a:ext cx="8387396" cy="632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67"/>
              </a:lnSpc>
            </a:pPr>
            <a:r>
              <a:rPr lang="en-US" sz="2799" b="true">
                <a:solidFill>
                  <a:srgbClr val="0E072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¿Qué hace el programa con él?</a:t>
            </a:r>
          </a:p>
          <a:p>
            <a:pPr algn="just" marL="604519" indent="-302260" lvl="1">
              <a:lnSpc>
                <a:spcPts val="5067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Lo valida (verifica que exista).</a:t>
            </a:r>
          </a:p>
          <a:p>
            <a:pPr algn="just" marL="604519" indent="-302260" lvl="1">
              <a:lnSpc>
                <a:spcPts val="5067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Lo abre con FileReader + BufferedReader.</a:t>
            </a:r>
          </a:p>
          <a:p>
            <a:pPr algn="just" marL="604519" indent="-302260" lvl="1">
              <a:lnSpc>
                <a:spcPts val="5067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Lee cada línea y construye la matriz char[][].</a:t>
            </a:r>
          </a:p>
          <a:p>
            <a:pPr algn="just" marL="604519" indent="-302260" lvl="1">
              <a:lnSpc>
                <a:spcPts val="5067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Busca en él la E (entrada)</a:t>
            </a:r>
            <a:r>
              <a:rPr lang="en-US" sz="2799" strike="noStrike" u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y la S (salida).</a:t>
            </a:r>
          </a:p>
          <a:p>
            <a:pPr algn="just" marL="604519" indent="-302260" lvl="1">
              <a:lnSpc>
                <a:spcPts val="5067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Se usa como tablero del juego.</a:t>
            </a:r>
          </a:p>
          <a:p>
            <a:pPr algn="just">
              <a:lnSpc>
                <a:spcPts val="5067"/>
              </a:lnSpc>
            </a:pPr>
          </a:p>
          <a:p>
            <a:pPr algn="just">
              <a:lnSpc>
                <a:spcPts val="5067"/>
              </a:lnSpc>
            </a:pPr>
            <a:r>
              <a:rPr lang="en-US" b="true" sz="2799" strike="noStrike" u="none">
                <a:solidFill>
                  <a:srgbClr val="0E072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Funciones</a:t>
            </a:r>
            <a:r>
              <a:rPr lang="en-US" b="true" sz="2799" strike="noStrike" u="none">
                <a:solidFill>
                  <a:srgbClr val="0E072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que trabajan con este archivo:</a:t>
            </a:r>
          </a:p>
          <a:p>
            <a:pPr algn="just" marL="604519" indent="-302260" lvl="1">
              <a:lnSpc>
                <a:spcPts val="5067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validarArchivoExiste()</a:t>
            </a:r>
          </a:p>
          <a:p>
            <a:pPr algn="just" marL="604519" indent="-302260" lvl="1">
              <a:lnSpc>
                <a:spcPts val="5067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cargarLaberinto()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2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14352" y="-2233026"/>
            <a:ext cx="5147295" cy="5193970"/>
            <a:chOff x="0" y="0"/>
            <a:chExt cx="812800" cy="820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2898" y="684936"/>
            <a:ext cx="7215376" cy="8917129"/>
            <a:chOff x="0" y="0"/>
            <a:chExt cx="1727724" cy="21352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0010" y="80010"/>
              <a:ext cx="1635014" cy="2042499"/>
            </a:xfrm>
            <a:custGeom>
              <a:avLst/>
              <a:gdLst/>
              <a:ahLst/>
              <a:cxnLst/>
              <a:rect r="r" b="b" t="t" l="l"/>
              <a:pathLst>
                <a:path h="2042499" w="1635014">
                  <a:moveTo>
                    <a:pt x="0" y="1987889"/>
                  </a:moveTo>
                  <a:lnTo>
                    <a:pt x="0" y="2042499"/>
                  </a:lnTo>
                  <a:lnTo>
                    <a:pt x="1635014" y="2042499"/>
                  </a:lnTo>
                  <a:lnTo>
                    <a:pt x="1635014" y="0"/>
                  </a:lnTo>
                  <a:lnTo>
                    <a:pt x="1580404" y="0"/>
                  </a:lnTo>
                  <a:lnTo>
                    <a:pt x="1580404" y="1987889"/>
                  </a:ln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7310" y="67310"/>
              <a:ext cx="1660414" cy="2067899"/>
            </a:xfrm>
            <a:custGeom>
              <a:avLst/>
              <a:gdLst/>
              <a:ahLst/>
              <a:cxnLst/>
              <a:rect r="r" b="b" t="t" l="l"/>
              <a:pathLst>
                <a:path h="2067899" w="1660414">
                  <a:moveTo>
                    <a:pt x="1593104" y="0"/>
                  </a:moveTo>
                  <a:lnTo>
                    <a:pt x="1593104" y="12700"/>
                  </a:lnTo>
                  <a:lnTo>
                    <a:pt x="1647714" y="12700"/>
                  </a:lnTo>
                  <a:lnTo>
                    <a:pt x="1647714" y="2055199"/>
                  </a:lnTo>
                  <a:lnTo>
                    <a:pt x="12700" y="2055199"/>
                  </a:lnTo>
                  <a:lnTo>
                    <a:pt x="12700" y="2000589"/>
                  </a:lnTo>
                  <a:lnTo>
                    <a:pt x="0" y="2000589"/>
                  </a:lnTo>
                  <a:lnTo>
                    <a:pt x="0" y="2067899"/>
                  </a:lnTo>
                  <a:lnTo>
                    <a:pt x="1660414" y="2067899"/>
                  </a:lnTo>
                  <a:lnTo>
                    <a:pt x="1660414" y="0"/>
                  </a:ln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1635014" cy="2042499"/>
            </a:xfrm>
            <a:custGeom>
              <a:avLst/>
              <a:gdLst/>
              <a:ahLst/>
              <a:cxnLst/>
              <a:rect r="r" b="b" t="t" l="l"/>
              <a:pathLst>
                <a:path h="2042499" w="1635014">
                  <a:moveTo>
                    <a:pt x="0" y="0"/>
                  </a:moveTo>
                  <a:lnTo>
                    <a:pt x="1635014" y="0"/>
                  </a:lnTo>
                  <a:lnTo>
                    <a:pt x="1635014" y="2042499"/>
                  </a:lnTo>
                  <a:lnTo>
                    <a:pt x="0" y="204249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60414" cy="2067899"/>
            </a:xfrm>
            <a:custGeom>
              <a:avLst/>
              <a:gdLst/>
              <a:ahLst/>
              <a:cxnLst/>
              <a:rect r="r" b="b" t="t" l="l"/>
              <a:pathLst>
                <a:path h="2067899" w="1660414">
                  <a:moveTo>
                    <a:pt x="80010" y="2067899"/>
                  </a:moveTo>
                  <a:lnTo>
                    <a:pt x="1660414" y="2067899"/>
                  </a:lnTo>
                  <a:lnTo>
                    <a:pt x="1660414" y="80010"/>
                  </a:lnTo>
                  <a:lnTo>
                    <a:pt x="1660414" y="67310"/>
                  </a:lnTo>
                  <a:lnTo>
                    <a:pt x="1660414" y="0"/>
                  </a:lnTo>
                  <a:lnTo>
                    <a:pt x="0" y="0"/>
                  </a:lnTo>
                  <a:lnTo>
                    <a:pt x="0" y="2067899"/>
                  </a:lnTo>
                  <a:lnTo>
                    <a:pt x="67310" y="2067899"/>
                  </a:lnTo>
                  <a:lnTo>
                    <a:pt x="80010" y="2067899"/>
                  </a:lnTo>
                  <a:close/>
                  <a:moveTo>
                    <a:pt x="12700" y="12700"/>
                  </a:moveTo>
                  <a:lnTo>
                    <a:pt x="1647714" y="12700"/>
                  </a:lnTo>
                  <a:lnTo>
                    <a:pt x="1647714" y="2055199"/>
                  </a:lnTo>
                  <a:lnTo>
                    <a:pt x="12700" y="2055199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4F8FD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1382898" y="9251042"/>
            <a:ext cx="2765795" cy="2790875"/>
            <a:chOff x="0" y="0"/>
            <a:chExt cx="812800" cy="8201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20170"/>
            </a:xfrm>
            <a:custGeom>
              <a:avLst/>
              <a:gdLst/>
              <a:ahLst/>
              <a:cxnLst/>
              <a:rect r="r" b="b" t="t" l="l"/>
              <a:pathLst>
                <a:path h="820170" w="81280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696075" y="8816160"/>
            <a:ext cx="1126451" cy="1089841"/>
          </a:xfrm>
          <a:custGeom>
            <a:avLst/>
            <a:gdLst/>
            <a:ahLst/>
            <a:cxnLst/>
            <a:rect r="r" b="b" t="t" l="l"/>
            <a:pathLst>
              <a:path h="1089841" w="1126451">
                <a:moveTo>
                  <a:pt x="0" y="0"/>
                </a:moveTo>
                <a:lnTo>
                  <a:pt x="1126450" y="0"/>
                </a:lnTo>
                <a:lnTo>
                  <a:pt x="1126450" y="1089842"/>
                </a:lnTo>
                <a:lnTo>
                  <a:pt x="0" y="1089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01948" y="2602026"/>
            <a:ext cx="6848692" cy="2579574"/>
          </a:xfrm>
          <a:custGeom>
            <a:avLst/>
            <a:gdLst/>
            <a:ahLst/>
            <a:cxnLst/>
            <a:rect r="r" b="b" t="t" l="l"/>
            <a:pathLst>
              <a:path h="2579574" w="6848692">
                <a:moveTo>
                  <a:pt x="0" y="0"/>
                </a:moveTo>
                <a:lnTo>
                  <a:pt x="6848692" y="0"/>
                </a:lnTo>
                <a:lnTo>
                  <a:pt x="6848692" y="2579574"/>
                </a:lnTo>
                <a:lnTo>
                  <a:pt x="0" y="25795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79682" y="5976821"/>
            <a:ext cx="6093223" cy="615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067"/>
              </a:lnSpc>
              <a:spcBef>
                <a:spcPct val="0"/>
              </a:spcBef>
            </a:pPr>
            <a:r>
              <a:rPr lang="en-US" b="true" sz="3619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laberinto_historial.txt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09220" y="6906799"/>
            <a:ext cx="6434147" cy="86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Guarda el result</a:t>
            </a:r>
            <a:r>
              <a:rPr lang="en-US" b="true" sz="2499" strike="noStrike" u="none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ado de cada partida, agregando una línea al final del archivo.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08138" y="1205414"/>
            <a:ext cx="6579867" cy="1514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82"/>
              </a:lnSpc>
            </a:pPr>
            <a:r>
              <a:rPr lang="en-US" b="true" sz="5455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ARCHIVO DE SALIDA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71904" y="2799019"/>
            <a:ext cx="8387396" cy="632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7"/>
              </a:lnSpc>
            </a:pPr>
            <a:r>
              <a:rPr lang="en-US" sz="2799" b="true">
                <a:solidFill>
                  <a:srgbClr val="0E072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Información guardada:</a:t>
            </a:r>
          </a:p>
          <a:p>
            <a:pPr algn="l" marL="604519" indent="-302260" lvl="1">
              <a:lnSpc>
                <a:spcPts val="5067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Nombre del jugador (en mayúsculas)</a:t>
            </a:r>
          </a:p>
          <a:p>
            <a:pPr algn="l" marL="604519" indent="-302260" lvl="1">
              <a:lnSpc>
                <a:spcPts val="5067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Movimientos realizados</a:t>
            </a:r>
          </a:p>
          <a:p>
            <a:pPr algn="l" marL="604519" indent="-302260" lvl="1">
              <a:lnSpc>
                <a:spcPts val="5067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Si llegó o no a la salida</a:t>
            </a:r>
          </a:p>
          <a:p>
            <a:pPr algn="l">
              <a:lnSpc>
                <a:spcPts val="5067"/>
              </a:lnSpc>
            </a:pPr>
            <a:r>
              <a:rPr lang="en-US" sz="2799" b="true">
                <a:solidFill>
                  <a:srgbClr val="0E072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Funciones que lo escriben:</a:t>
            </a:r>
          </a:p>
          <a:p>
            <a:pPr algn="l" marL="604519" indent="-302260" lvl="1">
              <a:lnSpc>
                <a:spcPts val="5067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guardarResultado(String nombre, int movimientos, boolean llego, String archivo)</a:t>
            </a:r>
          </a:p>
          <a:p>
            <a:pPr algn="l">
              <a:lnSpc>
                <a:spcPts val="5067"/>
              </a:lnSpc>
            </a:pPr>
            <a:r>
              <a:rPr lang="en-US" sz="2799" b="true">
                <a:solidFill>
                  <a:srgbClr val="0E072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Herramientas de escritura usadas:</a:t>
            </a:r>
          </a:p>
          <a:p>
            <a:pPr algn="l" marL="604519" indent="-302260" lvl="1">
              <a:lnSpc>
                <a:spcPts val="5067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FileWriter</a:t>
            </a:r>
          </a:p>
          <a:p>
            <a:pPr algn="l" marL="604519" indent="-302260" lvl="1">
              <a:lnSpc>
                <a:spcPts val="5067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PrintWriter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2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31790" y="-3825628"/>
            <a:ext cx="16449947" cy="16449947"/>
          </a:xfrm>
          <a:custGeom>
            <a:avLst/>
            <a:gdLst/>
            <a:ahLst/>
            <a:cxnLst/>
            <a:rect r="r" b="b" t="t" l="l"/>
            <a:pathLst>
              <a:path h="16449947" w="16449947">
                <a:moveTo>
                  <a:pt x="0" y="0"/>
                </a:moveTo>
                <a:lnTo>
                  <a:pt x="16449947" y="0"/>
                </a:lnTo>
                <a:lnTo>
                  <a:pt x="16449947" y="16449947"/>
                </a:lnTo>
                <a:lnTo>
                  <a:pt x="0" y="164499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27562" y="1749670"/>
            <a:ext cx="13832876" cy="7508630"/>
            <a:chOff x="0" y="0"/>
            <a:chExt cx="4778455" cy="25937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80010" y="80010"/>
              <a:ext cx="4685745" cy="2501086"/>
            </a:xfrm>
            <a:custGeom>
              <a:avLst/>
              <a:gdLst/>
              <a:ahLst/>
              <a:cxnLst/>
              <a:rect r="r" b="b" t="t" l="l"/>
              <a:pathLst>
                <a:path h="2501086" w="4685745">
                  <a:moveTo>
                    <a:pt x="0" y="2446476"/>
                  </a:moveTo>
                  <a:lnTo>
                    <a:pt x="0" y="2501086"/>
                  </a:lnTo>
                  <a:lnTo>
                    <a:pt x="4685745" y="2501086"/>
                  </a:lnTo>
                  <a:lnTo>
                    <a:pt x="4685745" y="0"/>
                  </a:lnTo>
                  <a:lnTo>
                    <a:pt x="4631135" y="0"/>
                  </a:lnTo>
                  <a:lnTo>
                    <a:pt x="4631135" y="2446476"/>
                  </a:ln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7310" y="67310"/>
              <a:ext cx="4711145" cy="2526486"/>
            </a:xfrm>
            <a:custGeom>
              <a:avLst/>
              <a:gdLst/>
              <a:ahLst/>
              <a:cxnLst/>
              <a:rect r="r" b="b" t="t" l="l"/>
              <a:pathLst>
                <a:path h="2526486" w="4711145">
                  <a:moveTo>
                    <a:pt x="4643835" y="0"/>
                  </a:moveTo>
                  <a:lnTo>
                    <a:pt x="4643835" y="12700"/>
                  </a:lnTo>
                  <a:lnTo>
                    <a:pt x="4698445" y="12700"/>
                  </a:lnTo>
                  <a:lnTo>
                    <a:pt x="4698445" y="2513786"/>
                  </a:lnTo>
                  <a:lnTo>
                    <a:pt x="12700" y="2513786"/>
                  </a:lnTo>
                  <a:lnTo>
                    <a:pt x="12700" y="2459176"/>
                  </a:lnTo>
                  <a:lnTo>
                    <a:pt x="0" y="2459176"/>
                  </a:lnTo>
                  <a:lnTo>
                    <a:pt x="0" y="2526486"/>
                  </a:lnTo>
                  <a:lnTo>
                    <a:pt x="4711145" y="2526486"/>
                  </a:lnTo>
                  <a:lnTo>
                    <a:pt x="4711145" y="0"/>
                  </a:ln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4685745" cy="2501086"/>
            </a:xfrm>
            <a:custGeom>
              <a:avLst/>
              <a:gdLst/>
              <a:ahLst/>
              <a:cxnLst/>
              <a:rect r="r" b="b" t="t" l="l"/>
              <a:pathLst>
                <a:path h="2501086" w="4685745">
                  <a:moveTo>
                    <a:pt x="0" y="0"/>
                  </a:moveTo>
                  <a:lnTo>
                    <a:pt x="4685745" y="0"/>
                  </a:lnTo>
                  <a:lnTo>
                    <a:pt x="4685745" y="2501086"/>
                  </a:lnTo>
                  <a:lnTo>
                    <a:pt x="0" y="250108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11145" cy="2526486"/>
            </a:xfrm>
            <a:custGeom>
              <a:avLst/>
              <a:gdLst/>
              <a:ahLst/>
              <a:cxnLst/>
              <a:rect r="r" b="b" t="t" l="l"/>
              <a:pathLst>
                <a:path h="2526486" w="4711145">
                  <a:moveTo>
                    <a:pt x="80010" y="2526486"/>
                  </a:moveTo>
                  <a:lnTo>
                    <a:pt x="4711145" y="2526486"/>
                  </a:lnTo>
                  <a:lnTo>
                    <a:pt x="4711145" y="80010"/>
                  </a:lnTo>
                  <a:lnTo>
                    <a:pt x="4711145" y="67310"/>
                  </a:lnTo>
                  <a:lnTo>
                    <a:pt x="4711145" y="0"/>
                  </a:lnTo>
                  <a:lnTo>
                    <a:pt x="0" y="0"/>
                  </a:lnTo>
                  <a:lnTo>
                    <a:pt x="0" y="2526486"/>
                  </a:lnTo>
                  <a:lnTo>
                    <a:pt x="67310" y="2526486"/>
                  </a:lnTo>
                  <a:lnTo>
                    <a:pt x="80010" y="2526486"/>
                  </a:lnTo>
                  <a:close/>
                  <a:moveTo>
                    <a:pt x="12700" y="12700"/>
                  </a:moveTo>
                  <a:lnTo>
                    <a:pt x="4698445" y="12700"/>
                  </a:lnTo>
                  <a:lnTo>
                    <a:pt x="4698445" y="2513786"/>
                  </a:lnTo>
                  <a:lnTo>
                    <a:pt x="12700" y="2513786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4F8FD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402860" y="8548841"/>
            <a:ext cx="1418919" cy="141891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697668" y="8857125"/>
            <a:ext cx="829302" cy="802350"/>
          </a:xfrm>
          <a:custGeom>
            <a:avLst/>
            <a:gdLst/>
            <a:ahLst/>
            <a:cxnLst/>
            <a:rect r="r" b="b" t="t" l="l"/>
            <a:pathLst>
              <a:path h="802350" w="829302">
                <a:moveTo>
                  <a:pt x="0" y="0"/>
                </a:moveTo>
                <a:lnTo>
                  <a:pt x="829302" y="0"/>
                </a:lnTo>
                <a:lnTo>
                  <a:pt x="829302" y="802350"/>
                </a:lnTo>
                <a:lnTo>
                  <a:pt x="0" y="802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011613" y="4303663"/>
            <a:ext cx="5163423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1D29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¿Por qué fue un reto?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11613" y="3212684"/>
            <a:ext cx="12264774" cy="815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35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Lograr que todas las validaciones del juego funcionaran correctamente y que el código no tuviera líneas repetidas ni funciones duplicadas.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28349" y="1982311"/>
            <a:ext cx="8431301" cy="106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4F8FD1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RETO TÉCNICO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78322" y="4887809"/>
            <a:ext cx="12731355" cy="1582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3196"/>
              </a:lnSpc>
              <a:buFont typeface="Arial"/>
              <a:buChar char="•"/>
            </a:pPr>
            <a:r>
              <a:rPr lang="en-US" sz="2299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Al</a:t>
            </a:r>
            <a:r>
              <a:rPr lang="en-US" sz="2299" strike="noStrike" u="none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gunas validaciones eran dependientes entre sí (muros, límites, movimientos válidos).</a:t>
            </a:r>
          </a:p>
          <a:p>
            <a:pPr algn="l" marL="496569" indent="-248284" lvl="1">
              <a:lnSpc>
                <a:spcPts val="3196"/>
              </a:lnSpc>
              <a:buFont typeface="Arial"/>
              <a:buChar char="•"/>
            </a:pPr>
            <a:r>
              <a:rPr lang="en-US" sz="2299" strike="noStrike" u="none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Si una validación fallaba, el jugador podía “romper” el laberinto.</a:t>
            </a:r>
          </a:p>
          <a:p>
            <a:pPr algn="l" marL="496569" indent="-248284" lvl="1">
              <a:lnSpc>
                <a:spcPts val="3196"/>
              </a:lnSpc>
              <a:buFont typeface="Arial"/>
              <a:buChar char="•"/>
            </a:pPr>
            <a:r>
              <a:rPr lang="en-US" sz="2299" strike="noStrike" u="none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Hubo partes del código hechas por distintos integrantes, lo que provocaba repetición de funciones y lógica.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11613" y="6781862"/>
            <a:ext cx="5163423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1D29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¿Cómo lo resolvimos?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78322" y="7366008"/>
            <a:ext cx="12731355" cy="1182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3196"/>
              </a:lnSpc>
              <a:buFont typeface="Arial"/>
              <a:buChar char="•"/>
            </a:pPr>
            <a:r>
              <a:rPr lang="en-US" sz="2299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Revisamos el códi</a:t>
            </a:r>
            <a:r>
              <a:rPr lang="en-US" sz="2299" strike="noStrike" u="none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go completo y eliminamos duplicados y acciones repetidas.</a:t>
            </a:r>
          </a:p>
          <a:p>
            <a:pPr algn="l" marL="496569" indent="-248284" lvl="1">
              <a:lnSpc>
                <a:spcPts val="3196"/>
              </a:lnSpc>
              <a:buFont typeface="Arial"/>
              <a:buChar char="•"/>
            </a:pPr>
            <a:r>
              <a:rPr lang="en-US" sz="2299" strike="noStrike" u="none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Estandarizamos la forma de validar paredes, límites y posiciones del jugador.</a:t>
            </a:r>
          </a:p>
          <a:p>
            <a:pPr algn="l" marL="496569" indent="-248284" lvl="1">
              <a:lnSpc>
                <a:spcPts val="3196"/>
              </a:lnSpc>
              <a:buFont typeface="Arial"/>
              <a:buChar char="•"/>
            </a:pPr>
            <a:r>
              <a:rPr lang="en-US" sz="2299" strike="noStrike" u="none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Probamos cada movimiento varias veces hasta asegurarnos de que no hubiera errores.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2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</a:blip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25992" y="3361719"/>
            <a:ext cx="10636017" cy="3373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99"/>
              </a:lnSpc>
              <a:spcBef>
                <a:spcPct val="0"/>
              </a:spcBef>
            </a:pPr>
            <a:r>
              <a:rPr lang="en-US" b="true" sz="9499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EJECUCIÓN DEL PROGRAMA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62A2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72798" y="2228512"/>
            <a:ext cx="14342403" cy="6163610"/>
            <a:chOff x="0" y="0"/>
            <a:chExt cx="5135302" cy="2206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0010" y="80010"/>
              <a:ext cx="5042592" cy="2114172"/>
            </a:xfrm>
            <a:custGeom>
              <a:avLst/>
              <a:gdLst/>
              <a:ahLst/>
              <a:cxnLst/>
              <a:rect r="r" b="b" t="t" l="l"/>
              <a:pathLst>
                <a:path h="2114172" w="5042592">
                  <a:moveTo>
                    <a:pt x="0" y="2059563"/>
                  </a:moveTo>
                  <a:lnTo>
                    <a:pt x="0" y="2114172"/>
                  </a:lnTo>
                  <a:lnTo>
                    <a:pt x="5042592" y="2114172"/>
                  </a:lnTo>
                  <a:lnTo>
                    <a:pt x="5042592" y="0"/>
                  </a:lnTo>
                  <a:lnTo>
                    <a:pt x="4987982" y="0"/>
                  </a:lnTo>
                  <a:lnTo>
                    <a:pt x="4987982" y="2059563"/>
                  </a:ln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7310" y="67310"/>
              <a:ext cx="5067992" cy="2139572"/>
            </a:xfrm>
            <a:custGeom>
              <a:avLst/>
              <a:gdLst/>
              <a:ahLst/>
              <a:cxnLst/>
              <a:rect r="r" b="b" t="t" l="l"/>
              <a:pathLst>
                <a:path h="2139572" w="5067992">
                  <a:moveTo>
                    <a:pt x="5000682" y="0"/>
                  </a:moveTo>
                  <a:lnTo>
                    <a:pt x="5000682" y="12700"/>
                  </a:lnTo>
                  <a:lnTo>
                    <a:pt x="5055292" y="12700"/>
                  </a:lnTo>
                  <a:lnTo>
                    <a:pt x="5055292" y="2126872"/>
                  </a:lnTo>
                  <a:lnTo>
                    <a:pt x="12700" y="2126872"/>
                  </a:lnTo>
                  <a:lnTo>
                    <a:pt x="12700" y="2072263"/>
                  </a:lnTo>
                  <a:lnTo>
                    <a:pt x="0" y="2072263"/>
                  </a:lnTo>
                  <a:lnTo>
                    <a:pt x="0" y="2139572"/>
                  </a:lnTo>
                  <a:lnTo>
                    <a:pt x="5067992" y="2139572"/>
                  </a:lnTo>
                  <a:lnTo>
                    <a:pt x="5067992" y="0"/>
                  </a:ln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700" y="12700"/>
              <a:ext cx="5042592" cy="2114173"/>
            </a:xfrm>
            <a:custGeom>
              <a:avLst/>
              <a:gdLst/>
              <a:ahLst/>
              <a:cxnLst/>
              <a:rect r="r" b="b" t="t" l="l"/>
              <a:pathLst>
                <a:path h="2114173" w="5042592">
                  <a:moveTo>
                    <a:pt x="0" y="0"/>
                  </a:moveTo>
                  <a:lnTo>
                    <a:pt x="5042592" y="0"/>
                  </a:lnTo>
                  <a:lnTo>
                    <a:pt x="5042592" y="2114173"/>
                  </a:lnTo>
                  <a:lnTo>
                    <a:pt x="0" y="211417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67992" cy="2139573"/>
            </a:xfrm>
            <a:custGeom>
              <a:avLst/>
              <a:gdLst/>
              <a:ahLst/>
              <a:cxnLst/>
              <a:rect r="r" b="b" t="t" l="l"/>
              <a:pathLst>
                <a:path h="2139573" w="5067992">
                  <a:moveTo>
                    <a:pt x="80010" y="2139573"/>
                  </a:moveTo>
                  <a:lnTo>
                    <a:pt x="5067992" y="2139573"/>
                  </a:lnTo>
                  <a:lnTo>
                    <a:pt x="5067992" y="80010"/>
                  </a:lnTo>
                  <a:lnTo>
                    <a:pt x="5067992" y="67310"/>
                  </a:lnTo>
                  <a:lnTo>
                    <a:pt x="5067992" y="0"/>
                  </a:lnTo>
                  <a:lnTo>
                    <a:pt x="0" y="0"/>
                  </a:lnTo>
                  <a:lnTo>
                    <a:pt x="0" y="2139573"/>
                  </a:lnTo>
                  <a:lnTo>
                    <a:pt x="67310" y="2139573"/>
                  </a:lnTo>
                  <a:lnTo>
                    <a:pt x="80010" y="2139573"/>
                  </a:lnTo>
                  <a:close/>
                  <a:moveTo>
                    <a:pt x="12700" y="12700"/>
                  </a:moveTo>
                  <a:lnTo>
                    <a:pt x="5055292" y="12700"/>
                  </a:lnTo>
                  <a:lnTo>
                    <a:pt x="5055292" y="2126873"/>
                  </a:lnTo>
                  <a:lnTo>
                    <a:pt x="12700" y="212687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4F8FD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4928349" y="2751003"/>
            <a:ext cx="8431301" cy="125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67"/>
              </a:lnSpc>
              <a:spcBef>
                <a:spcPct val="0"/>
              </a:spcBef>
            </a:pPr>
            <a:r>
              <a:rPr lang="en-US" b="true" sz="7191">
                <a:solidFill>
                  <a:srgbClr val="4F8FD1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CONCLUSIÓN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79040" y="4150888"/>
            <a:ext cx="13529920" cy="49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E072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</a:t>
            </a:r>
            <a:r>
              <a:rPr lang="en-US" b="true" sz="2899" strike="noStrike" u="none">
                <a:solidFill>
                  <a:srgbClr val="0E072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esarrollo de un juego interactivo aplicando estructuras fundamentales.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79040" y="4844554"/>
            <a:ext cx="13529920" cy="2907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0E0722"/>
                </a:solidFill>
                <a:latin typeface="Noto Sans"/>
                <a:ea typeface="Noto Sans"/>
                <a:cs typeface="Noto Sans"/>
                <a:sym typeface="Noto Sans"/>
              </a:rPr>
              <a:t>El proy</a:t>
            </a:r>
            <a:r>
              <a:rPr lang="en-US" sz="2599" strike="noStrike" u="none">
                <a:solidFill>
                  <a:srgbClr val="0E0722"/>
                </a:solidFill>
                <a:latin typeface="Noto Sans"/>
                <a:ea typeface="Noto Sans"/>
                <a:cs typeface="Noto Sans"/>
                <a:sym typeface="Noto Sans"/>
              </a:rPr>
              <a:t>ecto del laberinto nos permitió aplicar de forma práctica la programación estructurada en Java usando matrices, arreglos, métodos y archivos. Integramos cada módulo para crear un juego funcional y claro.</a:t>
            </a:r>
          </a:p>
          <a:p>
            <a:pPr algn="l" marL="561339" indent="-280669" lvl="1">
              <a:lnSpc>
                <a:spcPts val="4679"/>
              </a:lnSpc>
              <a:buFont typeface="Arial"/>
              <a:buChar char="•"/>
            </a:pPr>
            <a:r>
              <a:rPr lang="en-US" sz="2599" strike="noStrike" u="none">
                <a:solidFill>
                  <a:srgbClr val="0E0722"/>
                </a:solidFill>
                <a:latin typeface="Noto Sans"/>
                <a:ea typeface="Noto Sans"/>
                <a:cs typeface="Noto Sans"/>
                <a:sym typeface="Noto Sans"/>
              </a:rPr>
              <a:t> Además, fortalecimos el trabajo en equipo y mejoramos nuestra capacidad para analizar problemas y construir soluciones eficientes.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62A2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082" y="-885105"/>
            <a:ext cx="2300987" cy="230098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1805" y="3024610"/>
            <a:ext cx="10116427" cy="3450940"/>
            <a:chOff x="0" y="0"/>
            <a:chExt cx="3494638" cy="11920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0010" y="80010"/>
              <a:ext cx="3401928" cy="1099389"/>
            </a:xfrm>
            <a:custGeom>
              <a:avLst/>
              <a:gdLst/>
              <a:ahLst/>
              <a:cxnLst/>
              <a:rect r="r" b="b" t="t" l="l"/>
              <a:pathLst>
                <a:path h="1099389" w="3401928">
                  <a:moveTo>
                    <a:pt x="0" y="1044779"/>
                  </a:moveTo>
                  <a:lnTo>
                    <a:pt x="0" y="1099389"/>
                  </a:lnTo>
                  <a:lnTo>
                    <a:pt x="3401928" y="1099389"/>
                  </a:lnTo>
                  <a:lnTo>
                    <a:pt x="3401928" y="0"/>
                  </a:lnTo>
                  <a:lnTo>
                    <a:pt x="3347318" y="0"/>
                  </a:lnTo>
                  <a:lnTo>
                    <a:pt x="3347318" y="1044779"/>
                  </a:ln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7310" y="67310"/>
              <a:ext cx="3427328" cy="1124789"/>
            </a:xfrm>
            <a:custGeom>
              <a:avLst/>
              <a:gdLst/>
              <a:ahLst/>
              <a:cxnLst/>
              <a:rect r="r" b="b" t="t" l="l"/>
              <a:pathLst>
                <a:path h="1124789" w="3427328">
                  <a:moveTo>
                    <a:pt x="3360018" y="0"/>
                  </a:moveTo>
                  <a:lnTo>
                    <a:pt x="3360018" y="12700"/>
                  </a:lnTo>
                  <a:lnTo>
                    <a:pt x="3414628" y="12700"/>
                  </a:lnTo>
                  <a:lnTo>
                    <a:pt x="3414628" y="1112089"/>
                  </a:lnTo>
                  <a:lnTo>
                    <a:pt x="12700" y="1112089"/>
                  </a:lnTo>
                  <a:lnTo>
                    <a:pt x="12700" y="1057479"/>
                  </a:lnTo>
                  <a:lnTo>
                    <a:pt x="0" y="1057479"/>
                  </a:lnTo>
                  <a:lnTo>
                    <a:pt x="0" y="1124789"/>
                  </a:lnTo>
                  <a:lnTo>
                    <a:pt x="3427328" y="1124789"/>
                  </a:lnTo>
                  <a:lnTo>
                    <a:pt x="3427328" y="0"/>
                  </a:lnTo>
                  <a:close/>
                </a:path>
              </a:pathLst>
            </a:custGeom>
            <a:solidFill>
              <a:srgbClr val="4F8F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3401928" cy="1099389"/>
            </a:xfrm>
            <a:custGeom>
              <a:avLst/>
              <a:gdLst/>
              <a:ahLst/>
              <a:cxnLst/>
              <a:rect r="r" b="b" t="t" l="l"/>
              <a:pathLst>
                <a:path h="1099389" w="3401928">
                  <a:moveTo>
                    <a:pt x="0" y="0"/>
                  </a:moveTo>
                  <a:lnTo>
                    <a:pt x="3401928" y="0"/>
                  </a:lnTo>
                  <a:lnTo>
                    <a:pt x="3401928" y="1099389"/>
                  </a:lnTo>
                  <a:lnTo>
                    <a:pt x="0" y="109938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27328" cy="1124789"/>
            </a:xfrm>
            <a:custGeom>
              <a:avLst/>
              <a:gdLst/>
              <a:ahLst/>
              <a:cxnLst/>
              <a:rect r="r" b="b" t="t" l="l"/>
              <a:pathLst>
                <a:path h="1124789" w="3427328">
                  <a:moveTo>
                    <a:pt x="80010" y="1124789"/>
                  </a:moveTo>
                  <a:lnTo>
                    <a:pt x="3427328" y="1124789"/>
                  </a:lnTo>
                  <a:lnTo>
                    <a:pt x="3427328" y="80010"/>
                  </a:lnTo>
                  <a:lnTo>
                    <a:pt x="3427328" y="67310"/>
                  </a:lnTo>
                  <a:lnTo>
                    <a:pt x="3427328" y="0"/>
                  </a:lnTo>
                  <a:lnTo>
                    <a:pt x="0" y="0"/>
                  </a:lnTo>
                  <a:lnTo>
                    <a:pt x="0" y="1124789"/>
                  </a:lnTo>
                  <a:lnTo>
                    <a:pt x="67310" y="1124789"/>
                  </a:lnTo>
                  <a:lnTo>
                    <a:pt x="80010" y="1124789"/>
                  </a:lnTo>
                  <a:close/>
                  <a:moveTo>
                    <a:pt x="12700" y="12700"/>
                  </a:moveTo>
                  <a:lnTo>
                    <a:pt x="3414628" y="12700"/>
                  </a:lnTo>
                  <a:lnTo>
                    <a:pt x="3414628" y="1112089"/>
                  </a:lnTo>
                  <a:lnTo>
                    <a:pt x="12700" y="1112089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4F8FD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93486" y="7472822"/>
            <a:ext cx="10315350" cy="7013911"/>
            <a:chOff x="0" y="0"/>
            <a:chExt cx="1195384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95384" cy="812800"/>
            </a:xfrm>
            <a:custGeom>
              <a:avLst/>
              <a:gdLst/>
              <a:ahLst/>
              <a:cxnLst/>
              <a:rect r="r" b="b" t="t" l="l"/>
              <a:pathLst>
                <a:path h="812800" w="1195384">
                  <a:moveTo>
                    <a:pt x="597692" y="0"/>
                  </a:moveTo>
                  <a:cubicBezTo>
                    <a:pt x="267596" y="0"/>
                    <a:pt x="0" y="181951"/>
                    <a:pt x="0" y="406400"/>
                  </a:cubicBezTo>
                  <a:cubicBezTo>
                    <a:pt x="0" y="630849"/>
                    <a:pt x="267596" y="812800"/>
                    <a:pt x="597692" y="812800"/>
                  </a:cubicBezTo>
                  <a:cubicBezTo>
                    <a:pt x="927788" y="812800"/>
                    <a:pt x="1195384" y="630849"/>
                    <a:pt x="1195384" y="406400"/>
                  </a:cubicBezTo>
                  <a:cubicBezTo>
                    <a:pt x="1195384" y="181951"/>
                    <a:pt x="927788" y="0"/>
                    <a:pt x="5976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12067" y="28575"/>
              <a:ext cx="971249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243878">
            <a:off x="-955207" y="8927011"/>
            <a:ext cx="2300987" cy="230098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189575" y="3553820"/>
            <a:ext cx="9839488" cy="1253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67"/>
              </a:lnSpc>
              <a:spcBef>
                <a:spcPct val="0"/>
              </a:spcBef>
            </a:pPr>
            <a:r>
              <a:rPr lang="en-US" b="true" sz="7191" strike="noStrike" u="none">
                <a:solidFill>
                  <a:srgbClr val="4F8FD1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MUCHAS GRACIAS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89575" y="4929839"/>
            <a:ext cx="9710235" cy="68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47"/>
              </a:lnSpc>
              <a:spcBef>
                <a:spcPct val="0"/>
              </a:spcBef>
            </a:pPr>
            <a:r>
              <a:rPr lang="en-US" b="true" sz="3891">
                <a:solidFill>
                  <a:srgbClr val="4F8FD1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POR LA ATENCIÓN &lt;3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DAG6aovFQ08</dc:identifier>
  <dcterms:modified xsi:type="dcterms:W3CDTF">2011-08-01T06:04:30Z</dcterms:modified>
  <cp:revision>1</cp:revision>
  <dc:title>Proyecto de Programación</dc:title>
</cp:coreProperties>
</file>